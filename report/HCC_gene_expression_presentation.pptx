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9"/>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 will present my gene expression data analysis project on hepatocellular carcinoma. The aim was to compare tumor and adjacent non-tumor liver samples, identify differentially expressed genes, and then interpret those genes using functional enrichment and miRNA-target enrichment. I will not focus on the code line by line; instead, I will focus on the analytical choices, the quality controls, and the biological meaning of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contains paired samples, meaning that each patient contributes one tumor sample and one adjacent non-tumor liver sample. In the final imported metadata, I retained 96 patients with both tissue types, for 192 samples total. This paired design is important because tumor and control are matched within the same individual. As a result, the statistical analysis can compare tumor and normal expression within patients rather than treating the samples as completely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was organized as a sequential pipeline. First, I imported the GEO expression matrix and phenotype metadata. Second, I performed preprocessing by applying a log2 transformation and IQR-based filtering. Third, I calculated log fold change and performed a paired t-test for each gene, followed by FDR correction. Fourth, I generated diagnostic and interpretive plots: volcano plots, boxplots, heatmap, and PCA. Finally, I used EnrichR and MIENTURNET to interpret the DEG list functionally and from a miRNA-target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testing for differential expression, I transformed the expression matrix with log2 of data plus one, as required by the project. Then I calculated the interquartile range for every gene. The histogram shows that many genes have low variability across samples. I used the 25th percentile of the IQR distribution as the filtering threshold. This reduced the dataset from 18,503 genes to 13,877 genes. The reason is that genes with very low variability are unlikely to be informative for differential expression analysis and may add unnecessary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Differential expression was performed on the filtered log-transformed matrix. Because the samples are paired, I used a paired Student's t-test for each gene. Then I corrected p-values using FDR. I selected genes with adjusted p-value below 0.05 and absolute log2 fold change of at least one, corresponding to a fold change of at least two. With these thresholds I obtained 1667 differentially expressed genes: 602 were up-regulated in tumor and 1065 were down-regulated. The pre-filter volcano shows the full distribution of genes, while the post-filter volcano shows only genes that pass both the fold-change and adjusted p-value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identifying the DEG list, I checked whether these genes really separate the two biological conditions. The heatmap is very clear: tumor samples and normal samples form distinct expression patterns, and the UP and DOWN regulated genes show opposite blocks. The PCA gives the same message. PC1 explains 45.2 percent of the variance and separates normal samples from tumor samples. This supports the idea that the DEG list captures a real biological difference between the two tissues.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differential expression result more concrete, I selected one representative UP-regulated gene and one representative DOWN-regulated gene based on log fold change. ZIC2 is strongly higher in cancer samples than in adjacent normal samples, with a very significant adjusted p-value. CLEC1B shows the opposite pattern: it is highly expressed in normal tissue and strongly reduced in tumor tissue. These two boxplots are useful in the presentation because they show, in a simple way, how the DEG calls translate into actual expression differences across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enrichment analysis was performed separately for UP and DOWN regulated genes. For the UP-regulated genes, the result is very coherent. Reactome highlights cell cycle, mitotic cell cycle, cell cycle checkpoints, mitotic prometaphase, and spindle checkpoint terms. KEGG confirms the same picture, with cell cycle as the dominant pathway, followed by DNA replication, microRNAs in cancer, p53 signaling, and homologous recombination. Biologically, this means that tumor samples activate a proliferation-related program involving DNA replication, mitosis, and checkpoint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DOWN-regulated genes show a different biology. Reactome highlights metabolism, immune system, biological oxidations, phase I functionalization, drug ADME, and cytochrome P450-related pathways. KEGG highlights retinol metabolism, cytokine-cytokine receptor interaction, xenobiotic metabolism by cytochrome P450, drug metabolism, and bile secretion. This suggests that the tumor tissue has reduced expression of normal liver metabolic and detoxification functions. At the same time, there is also an immune and inflammatory component, visible through cytokine and immune-related pathway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investigate possible post-transcriptional regulation, I used MIENTURNET. I ran UP and DOWN gene lists separately. For the UP-regulated genes, the enriched miRNA-target modules were associated with cell cycle, G1/S transition, DNA replication, p53 signaling, and DNA damage response. Candidate miRNAs included hsa-let-7b-5p, hsa-miR-192-5p, hsa-miR-193b-3p, and hsa-miR-34a-5p. For the DOWN-regulated genes, the strongest result was hsa-miR-146a-5p, with pathway terms related to Toll-like receptor signaling, NF-kB signaling, cytokine signaling, interleukins, and chemokines. It is important to be precise: these miRNAs were not measured as differentially expressed; they are candidate regulators based on enrichment of their known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all results together, the project gives a coherent biological story. The genes up-regulated in tumor tissue are strongly connected to proliferation: cell cycle, DNA replication, mitosis, and checkpoint control. The genes down-regulated in tumor tissue are connected to normal liver metabolic functions, including cytochrome P450 metabolism, xenobiotic metabolism, drug metabolism, retinol metabolism, and bile secretion. The miRNA-target enrichment adds a regulatory layer, suggesting candidate miRNAs associated with the proliferative and inflammatory components of the DEG signature. Overall, the analysis suggests that hepatocellular carcinoma tissue activates tumor growth programs while losing differentiated hepatocyte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coding and data generation produced a complete and consistent result. With the selected thresholds, the analysis identified 1667 differentially expressed genes. The visualizations show strong separation between normal and tumor samples. Functional enrichment shows that UP-regulated genes are related to proliferation and cell cycle, while DOWN-regulated genes are related to liver metabolism and detoxification. MIENTURNET adds candidate miRNA-target regulatory modules. The main limitation is that the miRNAs are inferred from target enrichment and not directly measured as differentially expressed. Therefore, they should be interpreted as candidate regulators. Overall, the take-home message is that the analysis produced a biologically coherent HCC expression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85800" y="1051560"/>
            <a:ext cx="10789920" cy="713232"/>
          </a:xfrm>
          <a:prstGeom prst="rect">
            <a:avLst/>
          </a:prstGeom>
          <a:noFill/>
          <a:ln/>
        </p:spPr>
        <p:txBody>
          <a:bodyPr wrap="square" lIns="0" tIns="0" rIns="0" bIns="0" rtlCol="0" anchor="ctr">
            <a:normAutofit/>
          </a:bodyPr>
          <a:lstStyle/>
          <a:p>
            <a:pPr indent="0" marL="0">
              <a:buNone/>
            </a:pPr>
            <a:r>
              <a:rPr lang="en-US" sz="4300" b="1" dirty="0">
                <a:solidFill>
                  <a:srgbClr val="0B1F33"/>
                </a:solidFill>
                <a:latin typeface="Aptos Display" pitchFamily="34" charset="0"/>
                <a:ea typeface="Aptos Display" pitchFamily="34" charset="-122"/>
                <a:cs typeface="Aptos Display" pitchFamily="34" charset="-120"/>
              </a:rPr>
              <a:t>Differential gene expression analysis in HCC</a:t>
            </a:r>
            <a:endParaRPr lang="en-US" sz="4300" dirty="0"/>
          </a:p>
        </p:txBody>
      </p:sp>
      <p:sp>
        <p:nvSpPr>
          <p:cNvPr id="5" name="Text 3"/>
          <p:cNvSpPr/>
          <p:nvPr/>
        </p:nvSpPr>
        <p:spPr>
          <a:xfrm>
            <a:off x="713232" y="1874520"/>
            <a:ext cx="8869680" cy="310896"/>
          </a:xfrm>
          <a:prstGeom prst="rect">
            <a:avLst/>
          </a:prstGeom>
          <a:noFill/>
          <a:ln/>
        </p:spPr>
        <p:txBody>
          <a:bodyPr wrap="square" lIns="0" tIns="0" rIns="0" bIns="0" rtlCol="0" anchor="ctr"/>
          <a:lstStyle/>
          <a:p>
            <a:pPr indent="0" marL="0">
              <a:buNone/>
            </a:pPr>
            <a:r>
              <a:rPr lang="en-US" sz="1800" dirty="0">
                <a:solidFill>
                  <a:srgbClr val="475569"/>
                </a:solidFill>
              </a:rPr>
              <a:t>Tumor vs adjacent non-tumor liver tissues • GSE22058</a:t>
            </a:r>
            <a:endParaRPr lang="en-US" sz="1800" dirty="0"/>
          </a:p>
        </p:txBody>
      </p:sp>
      <p:sp>
        <p:nvSpPr>
          <p:cNvPr id="6" name="Text 4"/>
          <p:cNvSpPr/>
          <p:nvPr/>
        </p:nvSpPr>
        <p:spPr>
          <a:xfrm>
            <a:off x="713232" y="2450592"/>
            <a:ext cx="9509760" cy="685800"/>
          </a:xfrm>
          <a:prstGeom prst="rect">
            <a:avLst/>
          </a:prstGeom>
          <a:noFill/>
          <a:ln/>
        </p:spPr>
        <p:txBody>
          <a:bodyPr wrap="square" lIns="254" tIns="254" rIns="254" bIns="254" rtlCol="0" anchor="ctr">
            <a:normAutofit/>
          </a:bodyPr>
          <a:lstStyle/>
          <a:p>
            <a:pPr indent="0" marL="0">
              <a:buNone/>
            </a:pPr>
            <a:r>
              <a:rPr lang="en-US" sz="2200" dirty="0">
                <a:solidFill>
                  <a:srgbClr val="111827"/>
                </a:solidFill>
              </a:rPr>
              <a:t>Aim: identify differentially expressed genes and interpret their biological and miRNA-target regulation patterns.</a:t>
            </a:r>
            <a:endParaRPr lang="en-US" sz="2200" dirty="0"/>
          </a:p>
        </p:txBody>
      </p:sp>
      <p:sp>
        <p:nvSpPr>
          <p:cNvPr id="7" name="Shape 5"/>
          <p:cNvSpPr/>
          <p:nvPr/>
        </p:nvSpPr>
        <p:spPr>
          <a:xfrm>
            <a:off x="713232" y="3456432"/>
            <a:ext cx="1965960" cy="329184"/>
          </a:xfrm>
          <a:prstGeom prst="roundRect">
            <a:avLst>
              <a:gd name="adj" fmla="val 25000"/>
            </a:avLst>
          </a:prstGeom>
          <a:solidFill>
            <a:srgbClr val="2563EB">
              <a:alpha val="94000"/>
            </a:srgbClr>
          </a:solidFill>
          <a:ln w="12700">
            <a:solidFill>
              <a:srgbClr val="2563EB">
                <a:alpha val="0"/>
              </a:srgbClr>
            </a:solidFill>
            <a:prstDash val="solid"/>
          </a:ln>
        </p:spPr>
      </p:sp>
      <p:sp>
        <p:nvSpPr>
          <p:cNvPr id="8" name="Text 6"/>
          <p:cNvSpPr/>
          <p:nvPr/>
        </p:nvSpPr>
        <p:spPr>
          <a:xfrm>
            <a:off x="822960" y="3538728"/>
            <a:ext cx="1746504" cy="146304"/>
          </a:xfrm>
          <a:prstGeom prst="rect">
            <a:avLst/>
          </a:prstGeom>
          <a:noFill/>
          <a:ln/>
        </p:spPr>
        <p:txBody>
          <a:bodyPr wrap="square" lIns="0" tIns="0" rIns="0" bIns="0" rtlCol="0" anchor="ctr"/>
          <a:lstStyle/>
          <a:p>
            <a:pPr algn="ctr" indent="0" marL="0">
              <a:buNone/>
            </a:pPr>
            <a:r>
              <a:rPr lang="en-US" sz="1050" b="1" dirty="0">
                <a:solidFill>
                  <a:srgbClr val="FFFFFF"/>
                </a:solidFill>
              </a:rPr>
              <a:t>15-minute presentation</a:t>
            </a:r>
            <a:endParaRPr lang="en-US" sz="1050" dirty="0"/>
          </a:p>
        </p:txBody>
      </p:sp>
      <p:sp>
        <p:nvSpPr>
          <p:cNvPr id="9" name="Shape 7"/>
          <p:cNvSpPr/>
          <p:nvPr/>
        </p:nvSpPr>
        <p:spPr>
          <a:xfrm>
            <a:off x="2852928" y="3456432"/>
            <a:ext cx="1463040" cy="329184"/>
          </a:xfrm>
          <a:prstGeom prst="roundRect">
            <a:avLst>
              <a:gd name="adj" fmla="val 25000"/>
            </a:avLst>
          </a:prstGeom>
          <a:solidFill>
            <a:srgbClr val="14B8A6">
              <a:alpha val="94000"/>
            </a:srgbClr>
          </a:solidFill>
          <a:ln w="12700">
            <a:solidFill>
              <a:srgbClr val="14B8A6">
                <a:alpha val="0"/>
              </a:srgbClr>
            </a:solidFill>
            <a:prstDash val="solid"/>
          </a:ln>
        </p:spPr>
      </p:sp>
      <p:sp>
        <p:nvSpPr>
          <p:cNvPr id="10" name="Text 8"/>
          <p:cNvSpPr/>
          <p:nvPr/>
        </p:nvSpPr>
        <p:spPr>
          <a:xfrm>
            <a:off x="2962656" y="3538728"/>
            <a:ext cx="1243584" cy="146304"/>
          </a:xfrm>
          <a:prstGeom prst="rect">
            <a:avLst/>
          </a:prstGeom>
          <a:noFill/>
          <a:ln/>
        </p:spPr>
        <p:txBody>
          <a:bodyPr wrap="square" lIns="0" tIns="0" rIns="0" bIns="0" rtlCol="0" anchor="ctr"/>
          <a:lstStyle/>
          <a:p>
            <a:pPr algn="ctr" indent="0" marL="0">
              <a:buNone/>
            </a:pPr>
            <a:r>
              <a:rPr lang="en-US" sz="1050" b="1" dirty="0">
                <a:solidFill>
                  <a:srgbClr val="FFFFFF"/>
                </a:solidFill>
              </a:rPr>
              <a:t>Paired design</a:t>
            </a:r>
            <a:endParaRPr lang="en-US" sz="1050" dirty="0"/>
          </a:p>
        </p:txBody>
      </p:sp>
      <p:sp>
        <p:nvSpPr>
          <p:cNvPr id="11" name="Shape 9"/>
          <p:cNvSpPr/>
          <p:nvPr/>
        </p:nvSpPr>
        <p:spPr>
          <a:xfrm>
            <a:off x="4517136" y="3456432"/>
            <a:ext cx="2057400" cy="329184"/>
          </a:xfrm>
          <a:prstGeom prst="roundRect">
            <a:avLst>
              <a:gd name="adj" fmla="val 25000"/>
            </a:avLst>
          </a:prstGeom>
          <a:solidFill>
            <a:srgbClr val="F97316">
              <a:alpha val="94000"/>
            </a:srgbClr>
          </a:solidFill>
          <a:ln w="12700">
            <a:solidFill>
              <a:srgbClr val="F97316">
                <a:alpha val="0"/>
              </a:srgbClr>
            </a:solidFill>
            <a:prstDash val="solid"/>
          </a:ln>
        </p:spPr>
      </p:sp>
      <p:sp>
        <p:nvSpPr>
          <p:cNvPr id="12" name="Text 10"/>
          <p:cNvSpPr/>
          <p:nvPr/>
        </p:nvSpPr>
        <p:spPr>
          <a:xfrm>
            <a:off x="4626864" y="3538728"/>
            <a:ext cx="1837944" cy="146304"/>
          </a:xfrm>
          <a:prstGeom prst="rect">
            <a:avLst/>
          </a:prstGeom>
          <a:noFill/>
          <a:ln/>
        </p:spPr>
        <p:txBody>
          <a:bodyPr wrap="square" lIns="0" tIns="0" rIns="0" bIns="0" rtlCol="0" anchor="ctr"/>
          <a:lstStyle/>
          <a:p>
            <a:pPr algn="ctr" indent="0" marL="0">
              <a:buNone/>
            </a:pPr>
            <a:r>
              <a:rPr lang="en-US" sz="1050" b="1" dirty="0">
                <a:solidFill>
                  <a:srgbClr val="FFFFFF"/>
                </a:solidFill>
              </a:rPr>
              <a:t>Functional enrichment</a:t>
            </a:r>
            <a:endParaRPr lang="en-US" sz="1050" dirty="0"/>
          </a:p>
        </p:txBody>
      </p:sp>
      <p:sp>
        <p:nvSpPr>
          <p:cNvPr id="13" name="Shape 11"/>
          <p:cNvSpPr/>
          <p:nvPr/>
        </p:nvSpPr>
        <p:spPr>
          <a:xfrm>
            <a:off x="8823960" y="4315968"/>
            <a:ext cx="1234440" cy="1234440"/>
          </a:xfrm>
          <a:prstGeom prst="arc">
            <a:avLst/>
          </a:prstGeom>
          <a:noFill/>
          <a:ln w="12700">
            <a:solidFill>
              <a:srgbClr val="2563EB">
                <a:alpha val="60000"/>
              </a:srgbClr>
            </a:solidFill>
            <a:prstDash val="solid"/>
          </a:ln>
        </p:spPr>
      </p:sp>
      <p:sp>
        <p:nvSpPr>
          <p:cNvPr id="14" name="Shape 12"/>
          <p:cNvSpPr/>
          <p:nvPr/>
        </p:nvSpPr>
        <p:spPr>
          <a:xfrm rot="1500000">
            <a:off x="10378440" y="3611880"/>
            <a:ext cx="914400" cy="914400"/>
          </a:xfrm>
          <a:prstGeom prst="arc">
            <a:avLst/>
          </a:prstGeom>
          <a:noFill/>
          <a:ln w="12700">
            <a:solidFill>
              <a:srgbClr val="F97316">
                <a:alpha val="65000"/>
              </a:srgbClr>
            </a:solidFill>
            <a:prstDash val="solid"/>
          </a:ln>
        </p:spPr>
      </p:sp>
      <p:sp>
        <p:nvSpPr>
          <p:cNvPr id="15" name="Shape 13"/>
          <p:cNvSpPr/>
          <p:nvPr/>
        </p:nvSpPr>
        <p:spPr>
          <a:xfrm rot="-900000">
            <a:off x="10195560" y="5257800"/>
            <a:ext cx="777240" cy="777240"/>
          </a:xfrm>
          <a:prstGeom prst="arc">
            <a:avLst/>
          </a:prstGeom>
          <a:noFill/>
          <a:ln w="12700">
            <a:solidFill>
              <a:srgbClr val="14B8A6">
                <a:alpha val="7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Dataset</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Study design and biological question</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sp>
      <p:sp>
        <p:nvSpPr>
          <p:cNvPr id="5" name="Text 3"/>
          <p:cNvSpPr/>
          <p:nvPr/>
        </p:nvSpPr>
        <p:spPr>
          <a:xfrm>
            <a:off x="685800" y="1481328"/>
            <a:ext cx="2011680" cy="237744"/>
          </a:xfrm>
          <a:prstGeom prst="rect">
            <a:avLst/>
          </a:prstGeom>
          <a:noFill/>
          <a:ln/>
        </p:spPr>
        <p:txBody>
          <a:bodyPr wrap="square" lIns="0" tIns="0" rIns="0" bIns="0" rtlCol="0" anchor="ctr"/>
          <a:lstStyle/>
          <a:p>
            <a:pPr indent="0" marL="0">
              <a:buNone/>
            </a:pPr>
            <a:r>
              <a:rPr lang="en-US" sz="1500" b="1" dirty="0">
                <a:solidFill>
                  <a:srgbClr val="2563EB"/>
                </a:solidFill>
              </a:rPr>
              <a:t>Question</a:t>
            </a:r>
            <a:endParaRPr lang="en-US" sz="1500" dirty="0"/>
          </a:p>
        </p:txBody>
      </p:sp>
      <p:sp>
        <p:nvSpPr>
          <p:cNvPr id="6" name="Text 4"/>
          <p:cNvSpPr/>
          <p:nvPr/>
        </p:nvSpPr>
        <p:spPr>
          <a:xfrm>
            <a:off x="685800" y="1783080"/>
            <a:ext cx="4709160" cy="914400"/>
          </a:xfrm>
          <a:prstGeom prst="rect">
            <a:avLst/>
          </a:prstGeom>
          <a:noFill/>
          <a:ln/>
        </p:spPr>
        <p:txBody>
          <a:bodyPr wrap="square" lIns="254" tIns="254" rIns="254" bIns="254" rtlCol="0" anchor="ctr">
            <a:normAutofit/>
          </a:bodyPr>
          <a:lstStyle/>
          <a:p>
            <a:pPr indent="0" marL="0">
              <a:buNone/>
            </a:pPr>
            <a:r>
              <a:rPr lang="en-US" sz="2200" b="1" dirty="0">
                <a:solidFill>
                  <a:srgbClr val="0B1F33"/>
                </a:solidFill>
              </a:rPr>
              <a:t>Which genes and biological processes distinguish HCC tumor tissue from adjacent non-tumor liver tissue?</a:t>
            </a:r>
            <a:endParaRPr lang="en-US" sz="2200" dirty="0"/>
          </a:p>
        </p:txBody>
      </p:sp>
      <p:sp>
        <p:nvSpPr>
          <p:cNvPr id="7" name="Shape 5"/>
          <p:cNvSpPr/>
          <p:nvPr/>
        </p:nvSpPr>
        <p:spPr>
          <a:xfrm>
            <a:off x="5806440" y="1554480"/>
            <a:ext cx="0" cy="4206240"/>
          </a:xfrm>
          <a:prstGeom prst="line">
            <a:avLst/>
          </a:prstGeom>
          <a:noFill/>
          <a:ln w="12700">
            <a:solidFill>
              <a:srgbClr val="CBD5E1"/>
            </a:solidFill>
            <a:prstDash val="solid"/>
          </a:ln>
        </p:spPr>
      </p:sp>
      <p:sp>
        <p:nvSpPr>
          <p:cNvPr id="8" name="Text 6"/>
          <p:cNvSpPr/>
          <p:nvPr/>
        </p:nvSpPr>
        <p:spPr>
          <a:xfrm>
            <a:off x="6400800" y="1417320"/>
            <a:ext cx="1554480" cy="438912"/>
          </a:xfrm>
          <a:prstGeom prst="rect">
            <a:avLst/>
          </a:prstGeom>
          <a:noFill/>
          <a:ln/>
        </p:spPr>
        <p:txBody>
          <a:bodyPr wrap="square" lIns="0" tIns="0" rIns="0" bIns="0" rtlCol="0" anchor="ctr"/>
          <a:lstStyle/>
          <a:p>
            <a:pPr algn="ctr" indent="0" marL="0">
              <a:buNone/>
            </a:pPr>
            <a:r>
              <a:rPr lang="en-US" sz="3000" b="1" dirty="0">
                <a:solidFill>
                  <a:srgbClr val="2563EB"/>
                </a:solidFill>
              </a:rPr>
              <a:t>96</a:t>
            </a:r>
            <a:endParaRPr lang="en-US" sz="3000" dirty="0"/>
          </a:p>
        </p:txBody>
      </p:sp>
      <p:sp>
        <p:nvSpPr>
          <p:cNvPr id="9" name="Text 7"/>
          <p:cNvSpPr/>
          <p:nvPr/>
        </p:nvSpPr>
        <p:spPr>
          <a:xfrm>
            <a:off x="6400800" y="1892808"/>
            <a:ext cx="1554480" cy="384048"/>
          </a:xfrm>
          <a:prstGeom prst="rect">
            <a:avLst/>
          </a:prstGeom>
          <a:noFill/>
          <a:ln/>
        </p:spPr>
        <p:txBody>
          <a:bodyPr wrap="square" lIns="0" tIns="0" rIns="0" bIns="0" rtlCol="0" anchor="ctr">
            <a:normAutofit/>
          </a:bodyPr>
          <a:lstStyle/>
          <a:p>
            <a:pPr algn="ctr" indent="0" marL="0">
              <a:buNone/>
            </a:pPr>
            <a:r>
              <a:rPr lang="en-US" sz="1150" dirty="0">
                <a:solidFill>
                  <a:srgbClr val="475569"/>
                </a:solidFill>
              </a:rPr>
              <a:t>paired patients</a:t>
            </a:r>
            <a:endParaRPr lang="en-US" sz="1150" dirty="0"/>
          </a:p>
        </p:txBody>
      </p:sp>
      <p:sp>
        <p:nvSpPr>
          <p:cNvPr id="10" name="Text 8"/>
          <p:cNvSpPr/>
          <p:nvPr/>
        </p:nvSpPr>
        <p:spPr>
          <a:xfrm>
            <a:off x="8321040" y="1417320"/>
            <a:ext cx="1554480" cy="438912"/>
          </a:xfrm>
          <a:prstGeom prst="rect">
            <a:avLst/>
          </a:prstGeom>
          <a:noFill/>
          <a:ln/>
        </p:spPr>
        <p:txBody>
          <a:bodyPr wrap="square" lIns="0" tIns="0" rIns="0" bIns="0" rtlCol="0" anchor="ctr"/>
          <a:lstStyle/>
          <a:p>
            <a:pPr algn="ctr" indent="0" marL="0">
              <a:buNone/>
            </a:pPr>
            <a:r>
              <a:rPr lang="en-US" sz="3000" b="1" dirty="0">
                <a:solidFill>
                  <a:srgbClr val="F97316"/>
                </a:solidFill>
              </a:rPr>
              <a:t>192</a:t>
            </a:r>
            <a:endParaRPr lang="en-US" sz="3000" dirty="0"/>
          </a:p>
        </p:txBody>
      </p:sp>
      <p:sp>
        <p:nvSpPr>
          <p:cNvPr id="11" name="Text 9"/>
          <p:cNvSpPr/>
          <p:nvPr/>
        </p:nvSpPr>
        <p:spPr>
          <a:xfrm>
            <a:off x="8321040" y="1892808"/>
            <a:ext cx="1554480" cy="384048"/>
          </a:xfrm>
          <a:prstGeom prst="rect">
            <a:avLst/>
          </a:prstGeom>
          <a:noFill/>
          <a:ln/>
        </p:spPr>
        <p:txBody>
          <a:bodyPr wrap="square" lIns="0" tIns="0" rIns="0" bIns="0" rtlCol="0" anchor="ctr">
            <a:normAutofit/>
          </a:bodyPr>
          <a:lstStyle/>
          <a:p>
            <a:pPr algn="ctr" indent="0" marL="0">
              <a:buNone/>
            </a:pPr>
            <a:r>
              <a:rPr lang="en-US" sz="1150" dirty="0">
                <a:solidFill>
                  <a:srgbClr val="475569"/>
                </a:solidFill>
              </a:rPr>
              <a:t>samples analyzed</a:t>
            </a:r>
            <a:endParaRPr lang="en-US" sz="1150" dirty="0"/>
          </a:p>
        </p:txBody>
      </p:sp>
      <p:sp>
        <p:nvSpPr>
          <p:cNvPr id="12" name="Text 10"/>
          <p:cNvSpPr/>
          <p:nvPr/>
        </p:nvSpPr>
        <p:spPr>
          <a:xfrm>
            <a:off x="10058400" y="1417320"/>
            <a:ext cx="1097280" cy="438912"/>
          </a:xfrm>
          <a:prstGeom prst="rect">
            <a:avLst/>
          </a:prstGeom>
          <a:noFill/>
          <a:ln/>
        </p:spPr>
        <p:txBody>
          <a:bodyPr wrap="square" lIns="0" tIns="0" rIns="0" bIns="0" rtlCol="0" anchor="ctr"/>
          <a:lstStyle/>
          <a:p>
            <a:pPr algn="ctr" indent="0" marL="0">
              <a:buNone/>
            </a:pPr>
            <a:r>
              <a:rPr lang="en-US" sz="3000" b="1" dirty="0">
                <a:solidFill>
                  <a:srgbClr val="14B8A6"/>
                </a:solidFill>
              </a:rPr>
              <a:t>2</a:t>
            </a:r>
            <a:endParaRPr lang="en-US" sz="3000" dirty="0"/>
          </a:p>
        </p:txBody>
      </p:sp>
      <p:sp>
        <p:nvSpPr>
          <p:cNvPr id="13" name="Text 11"/>
          <p:cNvSpPr/>
          <p:nvPr/>
        </p:nvSpPr>
        <p:spPr>
          <a:xfrm>
            <a:off x="10058400" y="1892808"/>
            <a:ext cx="1097280" cy="384048"/>
          </a:xfrm>
          <a:prstGeom prst="rect">
            <a:avLst/>
          </a:prstGeom>
          <a:noFill/>
          <a:ln/>
        </p:spPr>
        <p:txBody>
          <a:bodyPr wrap="square" lIns="0" tIns="0" rIns="0" bIns="0" rtlCol="0" anchor="ctr">
            <a:normAutofit/>
          </a:bodyPr>
          <a:lstStyle/>
          <a:p>
            <a:pPr algn="ctr" indent="0" marL="0">
              <a:buNone/>
            </a:pPr>
            <a:r>
              <a:rPr lang="en-US" sz="1150" dirty="0">
                <a:solidFill>
                  <a:srgbClr val="475569"/>
                </a:solidFill>
              </a:rPr>
              <a:t>conditions</a:t>
            </a:r>
            <a:endParaRPr lang="en-US" sz="1150" dirty="0"/>
          </a:p>
        </p:txBody>
      </p:sp>
      <p:sp>
        <p:nvSpPr>
          <p:cNvPr id="14" name="Text 12"/>
          <p:cNvSpPr/>
          <p:nvPr/>
        </p:nvSpPr>
        <p:spPr>
          <a:xfrm>
            <a:off x="6400800" y="2688336"/>
            <a:ext cx="4389120" cy="347472"/>
          </a:xfrm>
          <a:prstGeom prst="rect">
            <a:avLst/>
          </a:prstGeom>
          <a:noFill/>
          <a:ln/>
        </p:spPr>
        <p:txBody>
          <a:bodyPr wrap="square" lIns="0" tIns="0" rIns="0" bIns="0" rtlCol="0" anchor="ctr"/>
          <a:lstStyle/>
          <a:p>
            <a:pPr indent="0" marL="0">
              <a:buNone/>
            </a:pPr>
            <a:r>
              <a:rPr lang="en-US" sz="1800" b="1" dirty="0">
                <a:solidFill>
                  <a:srgbClr val="0B1F33"/>
                </a:solidFill>
              </a:rPr>
              <a:t>Paired comparison</a:t>
            </a:r>
            <a:endParaRPr lang="en-US" sz="1800" dirty="0"/>
          </a:p>
        </p:txBody>
      </p:sp>
      <p:sp>
        <p:nvSpPr>
          <p:cNvPr id="15" name="Text 13"/>
          <p:cNvSpPr/>
          <p:nvPr/>
        </p:nvSpPr>
        <p:spPr>
          <a:xfrm>
            <a:off x="6400800" y="3072384"/>
            <a:ext cx="4526280" cy="1600200"/>
          </a:xfrm>
          <a:prstGeom prst="rect">
            <a:avLst/>
          </a:prstGeom>
          <a:noFill/>
          <a:ln/>
        </p:spPr>
        <p:txBody>
          <a:bodyPr wrap="square" lIns="381" tIns="381" rIns="381" bIns="381" rtlCol="0" anchor="ctr">
            <a:normAutofit/>
          </a:bodyPr>
          <a:lstStyle/>
          <a:p>
            <a:pPr marL="177800" indent="-177800">
              <a:buSzPct val="100000"/>
              <a:buChar char="•"/>
            </a:pPr>
            <a:r>
              <a:rPr lang="en-US" sz="1570" dirty="0">
                <a:solidFill>
                  <a:srgbClr val="111827"/>
                </a:solidFill>
                <a:latin typeface="Aptos" pitchFamily="34" charset="0"/>
                <a:ea typeface="Aptos" pitchFamily="34" charset="-122"/>
                <a:cs typeface="Aptos" pitchFamily="34" charset="-120"/>
              </a:rPr>
              <a:t>Tumor and adjacent non-tumor tissue come from the same individuals.</a:t>
            </a:r>
            <a:endParaRPr lang="en-US" sz="1570" dirty="0"/>
          </a:p>
          <a:p>
            <a:pPr marL="177800" indent="-177800">
              <a:buSzPct val="100000"/>
              <a:buChar char="•"/>
            </a:pPr>
            <a:r>
              <a:rPr lang="en-US" sz="1570" dirty="0">
                <a:solidFill>
                  <a:srgbClr val="111827"/>
                </a:solidFill>
                <a:latin typeface="Aptos" pitchFamily="34" charset="0"/>
                <a:ea typeface="Aptos" pitchFamily="34" charset="-122"/>
                <a:cs typeface="Aptos" pitchFamily="34" charset="-120"/>
              </a:rPr>
              <a:t>This controls part of the inter-patient variability.</a:t>
            </a:r>
            <a:endParaRPr lang="en-US" sz="1570" dirty="0"/>
          </a:p>
          <a:p>
            <a:pPr marL="177800" indent="-177800">
              <a:buSzPct val="100000"/>
              <a:buChar char="•"/>
            </a:pPr>
            <a:r>
              <a:rPr lang="en-US" sz="1570" dirty="0">
                <a:solidFill>
                  <a:srgbClr val="111827"/>
                </a:solidFill>
                <a:latin typeface="Aptos" pitchFamily="34" charset="0"/>
                <a:ea typeface="Aptos" pitchFamily="34" charset="-122"/>
                <a:cs typeface="Aptos" pitchFamily="34" charset="-120"/>
              </a:rPr>
              <a:t>Therefore, a paired t-test is appropriate downstream.</a:t>
            </a:r>
            <a:endParaRPr lang="en-US" sz="1570" dirty="0"/>
          </a:p>
        </p:txBody>
      </p:sp>
      <p:sp>
        <p:nvSpPr>
          <p:cNvPr id="16" name="Text 14"/>
          <p:cNvSpPr/>
          <p:nvPr/>
        </p:nvSpPr>
        <p:spPr>
          <a:xfrm>
            <a:off x="868680" y="4315968"/>
            <a:ext cx="1097280" cy="228600"/>
          </a:xfrm>
          <a:prstGeom prst="rect">
            <a:avLst/>
          </a:prstGeom>
          <a:noFill/>
          <a:ln/>
        </p:spPr>
        <p:txBody>
          <a:bodyPr wrap="square" lIns="0" tIns="0" rIns="0" bIns="0" rtlCol="0" anchor="ctr"/>
          <a:lstStyle/>
          <a:p>
            <a:pPr indent="0" marL="0">
              <a:buNone/>
            </a:pPr>
            <a:r>
              <a:rPr lang="en-US" sz="1300" b="1" dirty="0">
                <a:solidFill>
                  <a:srgbClr val="F97316"/>
                </a:solidFill>
              </a:rPr>
              <a:t>Tumor</a:t>
            </a:r>
            <a:endParaRPr lang="en-US" sz="1300" dirty="0"/>
          </a:p>
        </p:txBody>
      </p:sp>
      <p:sp>
        <p:nvSpPr>
          <p:cNvPr id="17" name="Text 15"/>
          <p:cNvSpPr/>
          <p:nvPr/>
        </p:nvSpPr>
        <p:spPr>
          <a:xfrm>
            <a:off x="2926080" y="4315968"/>
            <a:ext cx="1828800" cy="228600"/>
          </a:xfrm>
          <a:prstGeom prst="rect">
            <a:avLst/>
          </a:prstGeom>
          <a:noFill/>
          <a:ln/>
        </p:spPr>
        <p:txBody>
          <a:bodyPr wrap="square" lIns="0" tIns="0" rIns="0" bIns="0" rtlCol="0" anchor="ctr"/>
          <a:lstStyle/>
          <a:p>
            <a:pPr indent="0" marL="0">
              <a:buNone/>
            </a:pPr>
            <a:r>
              <a:rPr lang="en-US" sz="1300" b="1" dirty="0">
                <a:solidFill>
                  <a:srgbClr val="22C55E"/>
                </a:solidFill>
              </a:rPr>
              <a:t>Adjacent non-tumor</a:t>
            </a:r>
            <a:endParaRPr lang="en-US" sz="1300" dirty="0"/>
          </a:p>
        </p:txBody>
      </p:sp>
      <p:sp>
        <p:nvSpPr>
          <p:cNvPr id="18" name="Shape 16"/>
          <p:cNvSpPr/>
          <p:nvPr/>
        </p:nvSpPr>
        <p:spPr>
          <a:xfrm>
            <a:off x="868680" y="4663440"/>
            <a:ext cx="146304" cy="146304"/>
          </a:xfrm>
          <a:prstGeom prst="ellipse">
            <a:avLst/>
          </a:prstGeom>
          <a:solidFill>
            <a:srgbClr val="F97316"/>
          </a:solidFill>
          <a:ln w="12700">
            <a:solidFill>
              <a:srgbClr val="F97316"/>
            </a:solidFill>
            <a:prstDash val="solid"/>
          </a:ln>
        </p:spPr>
      </p:sp>
      <p:sp>
        <p:nvSpPr>
          <p:cNvPr id="19" name="Shape 17"/>
          <p:cNvSpPr/>
          <p:nvPr/>
        </p:nvSpPr>
        <p:spPr>
          <a:xfrm>
            <a:off x="3154680" y="4663440"/>
            <a:ext cx="146304" cy="146304"/>
          </a:xfrm>
          <a:prstGeom prst="ellipse">
            <a:avLst/>
          </a:prstGeom>
          <a:solidFill>
            <a:srgbClr val="22C55E"/>
          </a:solidFill>
          <a:ln w="12700">
            <a:solidFill>
              <a:srgbClr val="22C55E"/>
            </a:solidFill>
            <a:prstDash val="solid"/>
          </a:ln>
        </p:spPr>
      </p:sp>
      <p:sp>
        <p:nvSpPr>
          <p:cNvPr id="20" name="Shape 18"/>
          <p:cNvSpPr/>
          <p:nvPr/>
        </p:nvSpPr>
        <p:spPr>
          <a:xfrm>
            <a:off x="1014984" y="4736592"/>
            <a:ext cx="2139696" cy="0"/>
          </a:xfrm>
          <a:prstGeom prst="line">
            <a:avLst/>
          </a:prstGeom>
          <a:noFill/>
          <a:ln w="12700">
            <a:solidFill>
              <a:srgbClr val="CBD5E1"/>
            </a:solidFill>
            <a:prstDash val="solid"/>
          </a:ln>
        </p:spPr>
      </p:sp>
      <p:sp>
        <p:nvSpPr>
          <p:cNvPr id="21" name="Shape 19"/>
          <p:cNvSpPr/>
          <p:nvPr/>
        </p:nvSpPr>
        <p:spPr>
          <a:xfrm>
            <a:off x="868680" y="4873752"/>
            <a:ext cx="146304" cy="146304"/>
          </a:xfrm>
          <a:prstGeom prst="ellipse">
            <a:avLst/>
          </a:prstGeom>
          <a:solidFill>
            <a:srgbClr val="F97316"/>
          </a:solidFill>
          <a:ln w="12700">
            <a:solidFill>
              <a:srgbClr val="F97316"/>
            </a:solidFill>
            <a:prstDash val="solid"/>
          </a:ln>
        </p:spPr>
      </p:sp>
      <p:sp>
        <p:nvSpPr>
          <p:cNvPr id="22" name="Shape 20"/>
          <p:cNvSpPr/>
          <p:nvPr/>
        </p:nvSpPr>
        <p:spPr>
          <a:xfrm>
            <a:off x="3154680" y="4873752"/>
            <a:ext cx="146304" cy="146304"/>
          </a:xfrm>
          <a:prstGeom prst="ellipse">
            <a:avLst/>
          </a:prstGeom>
          <a:solidFill>
            <a:srgbClr val="22C55E"/>
          </a:solidFill>
          <a:ln w="12700">
            <a:solidFill>
              <a:srgbClr val="22C55E"/>
            </a:solidFill>
            <a:prstDash val="solid"/>
          </a:ln>
        </p:spPr>
      </p:sp>
      <p:sp>
        <p:nvSpPr>
          <p:cNvPr id="23" name="Shape 21"/>
          <p:cNvSpPr/>
          <p:nvPr/>
        </p:nvSpPr>
        <p:spPr>
          <a:xfrm>
            <a:off x="1014984" y="4946904"/>
            <a:ext cx="2139696" cy="0"/>
          </a:xfrm>
          <a:prstGeom prst="line">
            <a:avLst/>
          </a:prstGeom>
          <a:noFill/>
          <a:ln w="12700">
            <a:solidFill>
              <a:srgbClr val="CBD5E1"/>
            </a:solidFill>
            <a:prstDash val="solid"/>
          </a:ln>
        </p:spPr>
      </p:sp>
      <p:sp>
        <p:nvSpPr>
          <p:cNvPr id="24" name="Shape 22"/>
          <p:cNvSpPr/>
          <p:nvPr/>
        </p:nvSpPr>
        <p:spPr>
          <a:xfrm>
            <a:off x="868680" y="5084064"/>
            <a:ext cx="146304" cy="146304"/>
          </a:xfrm>
          <a:prstGeom prst="ellipse">
            <a:avLst/>
          </a:prstGeom>
          <a:solidFill>
            <a:srgbClr val="F97316"/>
          </a:solidFill>
          <a:ln w="12700">
            <a:solidFill>
              <a:srgbClr val="F97316"/>
            </a:solidFill>
            <a:prstDash val="solid"/>
          </a:ln>
        </p:spPr>
      </p:sp>
      <p:sp>
        <p:nvSpPr>
          <p:cNvPr id="25" name="Shape 23"/>
          <p:cNvSpPr/>
          <p:nvPr/>
        </p:nvSpPr>
        <p:spPr>
          <a:xfrm>
            <a:off x="3154680" y="5084064"/>
            <a:ext cx="146304" cy="146304"/>
          </a:xfrm>
          <a:prstGeom prst="ellipse">
            <a:avLst/>
          </a:prstGeom>
          <a:solidFill>
            <a:srgbClr val="22C55E"/>
          </a:solidFill>
          <a:ln w="12700">
            <a:solidFill>
              <a:srgbClr val="22C55E"/>
            </a:solidFill>
            <a:prstDash val="solid"/>
          </a:ln>
        </p:spPr>
      </p:sp>
      <p:sp>
        <p:nvSpPr>
          <p:cNvPr id="26" name="Shape 24"/>
          <p:cNvSpPr/>
          <p:nvPr/>
        </p:nvSpPr>
        <p:spPr>
          <a:xfrm>
            <a:off x="1014984" y="5157216"/>
            <a:ext cx="2139696" cy="0"/>
          </a:xfrm>
          <a:prstGeom prst="line">
            <a:avLst/>
          </a:prstGeom>
          <a:noFill/>
          <a:ln w="12700">
            <a:solidFill>
              <a:srgbClr val="CBD5E1"/>
            </a:solidFill>
            <a:prstDash val="solid"/>
          </a:ln>
        </p:spPr>
      </p:sp>
      <p:sp>
        <p:nvSpPr>
          <p:cNvPr id="27" name="Shape 25"/>
          <p:cNvSpPr/>
          <p:nvPr/>
        </p:nvSpPr>
        <p:spPr>
          <a:xfrm>
            <a:off x="868680" y="5294376"/>
            <a:ext cx="146304" cy="146304"/>
          </a:xfrm>
          <a:prstGeom prst="ellipse">
            <a:avLst/>
          </a:prstGeom>
          <a:solidFill>
            <a:srgbClr val="F97316"/>
          </a:solidFill>
          <a:ln w="12700">
            <a:solidFill>
              <a:srgbClr val="F97316"/>
            </a:solidFill>
            <a:prstDash val="solid"/>
          </a:ln>
        </p:spPr>
      </p:sp>
      <p:sp>
        <p:nvSpPr>
          <p:cNvPr id="28" name="Shape 26"/>
          <p:cNvSpPr/>
          <p:nvPr/>
        </p:nvSpPr>
        <p:spPr>
          <a:xfrm>
            <a:off x="3154680" y="5294376"/>
            <a:ext cx="146304" cy="146304"/>
          </a:xfrm>
          <a:prstGeom prst="ellipse">
            <a:avLst/>
          </a:prstGeom>
          <a:solidFill>
            <a:srgbClr val="22C55E"/>
          </a:solidFill>
          <a:ln w="12700">
            <a:solidFill>
              <a:srgbClr val="22C55E"/>
            </a:solidFill>
            <a:prstDash val="solid"/>
          </a:ln>
        </p:spPr>
      </p:sp>
      <p:sp>
        <p:nvSpPr>
          <p:cNvPr id="29" name="Shape 27"/>
          <p:cNvSpPr/>
          <p:nvPr/>
        </p:nvSpPr>
        <p:spPr>
          <a:xfrm>
            <a:off x="1014984" y="5367528"/>
            <a:ext cx="2139696" cy="0"/>
          </a:xfrm>
          <a:prstGeom prst="line">
            <a:avLst/>
          </a:prstGeom>
          <a:noFill/>
          <a:ln w="12700">
            <a:solidFill>
              <a:srgbClr val="CBD5E1"/>
            </a:solidFill>
            <a:prstDash val="solid"/>
          </a:ln>
        </p:spPr>
      </p:sp>
      <p:sp>
        <p:nvSpPr>
          <p:cNvPr id="30" name="Shape 28"/>
          <p:cNvSpPr/>
          <p:nvPr/>
        </p:nvSpPr>
        <p:spPr>
          <a:xfrm>
            <a:off x="868680" y="5504688"/>
            <a:ext cx="146304" cy="146304"/>
          </a:xfrm>
          <a:prstGeom prst="ellipse">
            <a:avLst/>
          </a:prstGeom>
          <a:solidFill>
            <a:srgbClr val="F97316"/>
          </a:solidFill>
          <a:ln w="12700">
            <a:solidFill>
              <a:srgbClr val="F97316"/>
            </a:solidFill>
            <a:prstDash val="solid"/>
          </a:ln>
        </p:spPr>
      </p:sp>
      <p:sp>
        <p:nvSpPr>
          <p:cNvPr id="31" name="Shape 29"/>
          <p:cNvSpPr/>
          <p:nvPr/>
        </p:nvSpPr>
        <p:spPr>
          <a:xfrm>
            <a:off x="3154680" y="5504688"/>
            <a:ext cx="146304" cy="146304"/>
          </a:xfrm>
          <a:prstGeom prst="ellipse">
            <a:avLst/>
          </a:prstGeom>
          <a:solidFill>
            <a:srgbClr val="22C55E"/>
          </a:solidFill>
          <a:ln w="12700">
            <a:solidFill>
              <a:srgbClr val="22C55E"/>
            </a:solidFill>
            <a:prstDash val="solid"/>
          </a:ln>
        </p:spPr>
      </p:sp>
      <p:sp>
        <p:nvSpPr>
          <p:cNvPr id="32" name="Shape 30"/>
          <p:cNvSpPr/>
          <p:nvPr/>
        </p:nvSpPr>
        <p:spPr>
          <a:xfrm>
            <a:off x="1014984" y="5577840"/>
            <a:ext cx="2139696" cy="0"/>
          </a:xfrm>
          <a:prstGeom prst="line">
            <a:avLst/>
          </a:prstGeom>
          <a:noFill/>
          <a:ln w="12700">
            <a:solidFill>
              <a:srgbClr val="CBD5E1"/>
            </a:solidFill>
            <a:prstDash val="solid"/>
          </a:ln>
        </p:spPr>
      </p:sp>
      <p:sp>
        <p:nvSpPr>
          <p:cNvPr id="33" name="Shape 31"/>
          <p:cNvSpPr/>
          <p:nvPr/>
        </p:nvSpPr>
        <p:spPr>
          <a:xfrm>
            <a:off x="868680" y="5715000"/>
            <a:ext cx="146304" cy="146304"/>
          </a:xfrm>
          <a:prstGeom prst="ellipse">
            <a:avLst/>
          </a:prstGeom>
          <a:solidFill>
            <a:srgbClr val="F97316"/>
          </a:solidFill>
          <a:ln w="12700">
            <a:solidFill>
              <a:srgbClr val="F97316"/>
            </a:solidFill>
            <a:prstDash val="solid"/>
          </a:ln>
        </p:spPr>
      </p:sp>
      <p:sp>
        <p:nvSpPr>
          <p:cNvPr id="34" name="Shape 32"/>
          <p:cNvSpPr/>
          <p:nvPr/>
        </p:nvSpPr>
        <p:spPr>
          <a:xfrm>
            <a:off x="3154680" y="5715000"/>
            <a:ext cx="146304" cy="146304"/>
          </a:xfrm>
          <a:prstGeom prst="ellipse">
            <a:avLst/>
          </a:prstGeom>
          <a:solidFill>
            <a:srgbClr val="22C55E"/>
          </a:solidFill>
          <a:ln w="12700">
            <a:solidFill>
              <a:srgbClr val="22C55E"/>
            </a:solidFill>
            <a:prstDash val="solid"/>
          </a:ln>
        </p:spPr>
      </p:sp>
      <p:sp>
        <p:nvSpPr>
          <p:cNvPr id="35" name="Shape 33"/>
          <p:cNvSpPr/>
          <p:nvPr/>
        </p:nvSpPr>
        <p:spPr>
          <a:xfrm>
            <a:off x="1014984" y="5788152"/>
            <a:ext cx="2139696" cy="0"/>
          </a:xfrm>
          <a:prstGeom prst="line">
            <a:avLst/>
          </a:prstGeom>
          <a:noFill/>
          <a:ln w="12700">
            <a:solidFill>
              <a:srgbClr val="CBD5E1"/>
            </a:solidFill>
            <a:prstDash val="solid"/>
          </a:ln>
        </p:spPr>
      </p:sp>
      <p:sp>
        <p:nvSpPr>
          <p:cNvPr id="36" name="Text 34"/>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37" name="Text 35"/>
          <p:cNvSpPr/>
          <p:nvPr/>
        </p:nvSpPr>
        <p:spPr>
          <a:xfrm>
            <a:off x="11201400" y="6473952"/>
            <a:ext cx="411480" cy="219456"/>
          </a:xfrm>
          <a:prstGeom prst="rect">
            <a:avLst/>
          </a:prstGeom>
          <a:noFill/>
          <a:ln/>
        </p:spPr>
        <p:txBody>
          <a:bodyPr wrap="square" lIns="0" tIns="0" rIns="0" bIns="0" rtlCol="0" anchor="ctr"/>
          <a:lstStyle/>
          <a:p>
            <a:pPr algn="r" indent="0" marL="0">
              <a:buNone/>
            </a:pPr>
            <a:r>
              <a:rPr lang="en-US" sz="850" dirty="0">
                <a:solidFill>
                  <a:srgbClr val="64748B"/>
                </a:solidFill>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Pipeline</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Analysis workflow</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sp>
      <p:sp>
        <p:nvSpPr>
          <p:cNvPr id="5" name="Shape 3"/>
          <p:cNvSpPr/>
          <p:nvPr/>
        </p:nvSpPr>
        <p:spPr>
          <a:xfrm>
            <a:off x="2258568" y="2743200"/>
            <a:ext cx="914400" cy="0"/>
          </a:xfrm>
          <a:prstGeom prst="line">
            <a:avLst/>
          </a:prstGeom>
          <a:noFill/>
          <a:ln w="12700">
            <a:solidFill>
              <a:srgbClr val="CBD5E1"/>
            </a:solidFill>
            <a:prstDash val="solid"/>
            <a:headEnd type="none"/>
            <a:tailEnd type="triangle"/>
          </a:ln>
        </p:spPr>
      </p:sp>
      <p:sp>
        <p:nvSpPr>
          <p:cNvPr id="6" name="Shape 4"/>
          <p:cNvSpPr/>
          <p:nvPr/>
        </p:nvSpPr>
        <p:spPr>
          <a:xfrm>
            <a:off x="685800" y="2148840"/>
            <a:ext cx="1353312" cy="1353312"/>
          </a:xfrm>
          <a:prstGeom prst="ellipse">
            <a:avLst/>
          </a:prstGeom>
          <a:solidFill>
            <a:srgbClr val="2563EB">
              <a:alpha val="96000"/>
            </a:srgbClr>
          </a:solidFill>
          <a:ln w="12700">
            <a:solidFill>
              <a:srgbClr val="FFFFFF"/>
            </a:solidFill>
            <a:prstDash val="solid"/>
          </a:ln>
        </p:spPr>
      </p:sp>
      <p:sp>
        <p:nvSpPr>
          <p:cNvPr id="7" name="Text 5"/>
          <p:cNvSpPr/>
          <p:nvPr/>
        </p:nvSpPr>
        <p:spPr>
          <a:xfrm>
            <a:off x="685800" y="2514600"/>
            <a:ext cx="1353312" cy="310896"/>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8" name="Text 6"/>
          <p:cNvSpPr/>
          <p:nvPr/>
        </p:nvSpPr>
        <p:spPr>
          <a:xfrm>
            <a:off x="448056" y="3776472"/>
            <a:ext cx="1828800" cy="274320"/>
          </a:xfrm>
          <a:prstGeom prst="rect">
            <a:avLst/>
          </a:prstGeom>
          <a:noFill/>
          <a:ln/>
        </p:spPr>
        <p:txBody>
          <a:bodyPr wrap="square" lIns="0" tIns="0" rIns="0" bIns="0" rtlCol="0" anchor="ctr"/>
          <a:lstStyle/>
          <a:p>
            <a:pPr algn="ctr" indent="0" marL="0">
              <a:buNone/>
            </a:pPr>
            <a:r>
              <a:rPr lang="en-US" sz="1600" b="1" dirty="0">
                <a:solidFill>
                  <a:srgbClr val="0B1F33"/>
                </a:solidFill>
              </a:rPr>
              <a:t>Import</a:t>
            </a:r>
            <a:endParaRPr lang="en-US" sz="1600" dirty="0"/>
          </a:p>
        </p:txBody>
      </p:sp>
      <p:sp>
        <p:nvSpPr>
          <p:cNvPr id="9" name="Text 7"/>
          <p:cNvSpPr/>
          <p:nvPr/>
        </p:nvSpPr>
        <p:spPr>
          <a:xfrm>
            <a:off x="365760" y="4133088"/>
            <a:ext cx="2011680" cy="502920"/>
          </a:xfrm>
          <a:prstGeom prst="rect">
            <a:avLst/>
          </a:prstGeom>
          <a:noFill/>
          <a:ln/>
        </p:spPr>
        <p:txBody>
          <a:bodyPr wrap="square" lIns="254" tIns="254" rIns="254" bIns="254" rtlCol="0" anchor="ctr">
            <a:normAutofit/>
          </a:bodyPr>
          <a:lstStyle/>
          <a:p>
            <a:pPr algn="ctr" indent="0" marL="0">
              <a:buNone/>
            </a:pPr>
            <a:r>
              <a:rPr lang="en-US" sz="1150" dirty="0">
                <a:solidFill>
                  <a:srgbClr val="475569"/>
                </a:solidFill>
              </a:rPr>
              <a:t>GEO matrix + metadata</a:t>
            </a:r>
            <a:endParaRPr lang="en-US" sz="1150" dirty="0"/>
          </a:p>
        </p:txBody>
      </p:sp>
      <p:sp>
        <p:nvSpPr>
          <p:cNvPr id="10" name="Shape 8"/>
          <p:cNvSpPr/>
          <p:nvPr/>
        </p:nvSpPr>
        <p:spPr>
          <a:xfrm>
            <a:off x="4453128" y="2743200"/>
            <a:ext cx="914400" cy="0"/>
          </a:xfrm>
          <a:prstGeom prst="line">
            <a:avLst/>
          </a:prstGeom>
          <a:noFill/>
          <a:ln w="12700">
            <a:solidFill>
              <a:srgbClr val="CBD5E1"/>
            </a:solidFill>
            <a:prstDash val="solid"/>
            <a:headEnd type="none"/>
            <a:tailEnd type="triangle"/>
          </a:ln>
        </p:spPr>
      </p:sp>
      <p:sp>
        <p:nvSpPr>
          <p:cNvPr id="11" name="Shape 9"/>
          <p:cNvSpPr/>
          <p:nvPr/>
        </p:nvSpPr>
        <p:spPr>
          <a:xfrm>
            <a:off x="2880360" y="2148840"/>
            <a:ext cx="1353312" cy="1353312"/>
          </a:xfrm>
          <a:prstGeom prst="ellipse">
            <a:avLst/>
          </a:prstGeom>
          <a:solidFill>
            <a:srgbClr val="14B8A6">
              <a:alpha val="96000"/>
            </a:srgbClr>
          </a:solidFill>
          <a:ln w="12700">
            <a:solidFill>
              <a:srgbClr val="FFFFFF"/>
            </a:solidFill>
            <a:prstDash val="solid"/>
          </a:ln>
        </p:spPr>
      </p:sp>
      <p:sp>
        <p:nvSpPr>
          <p:cNvPr id="12" name="Text 10"/>
          <p:cNvSpPr/>
          <p:nvPr/>
        </p:nvSpPr>
        <p:spPr>
          <a:xfrm>
            <a:off x="2880360" y="2514600"/>
            <a:ext cx="1353312" cy="310896"/>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3" name="Text 11"/>
          <p:cNvSpPr/>
          <p:nvPr/>
        </p:nvSpPr>
        <p:spPr>
          <a:xfrm>
            <a:off x="2642616" y="3776472"/>
            <a:ext cx="1828800" cy="274320"/>
          </a:xfrm>
          <a:prstGeom prst="rect">
            <a:avLst/>
          </a:prstGeom>
          <a:noFill/>
          <a:ln/>
        </p:spPr>
        <p:txBody>
          <a:bodyPr wrap="square" lIns="0" tIns="0" rIns="0" bIns="0" rtlCol="0" anchor="ctr"/>
          <a:lstStyle/>
          <a:p>
            <a:pPr algn="ctr" indent="0" marL="0">
              <a:buNone/>
            </a:pPr>
            <a:r>
              <a:rPr lang="en-US" sz="1600" b="1" dirty="0">
                <a:solidFill>
                  <a:srgbClr val="0B1F33"/>
                </a:solidFill>
              </a:rPr>
              <a:t>Preprocess</a:t>
            </a:r>
            <a:endParaRPr lang="en-US" sz="1600" dirty="0"/>
          </a:p>
        </p:txBody>
      </p:sp>
      <p:sp>
        <p:nvSpPr>
          <p:cNvPr id="14" name="Text 12"/>
          <p:cNvSpPr/>
          <p:nvPr/>
        </p:nvSpPr>
        <p:spPr>
          <a:xfrm>
            <a:off x="2560320" y="4133088"/>
            <a:ext cx="2011680" cy="502920"/>
          </a:xfrm>
          <a:prstGeom prst="rect">
            <a:avLst/>
          </a:prstGeom>
          <a:noFill/>
          <a:ln/>
        </p:spPr>
        <p:txBody>
          <a:bodyPr wrap="square" lIns="254" tIns="254" rIns="254" bIns="254" rtlCol="0" anchor="ctr">
            <a:normAutofit/>
          </a:bodyPr>
          <a:lstStyle/>
          <a:p>
            <a:pPr algn="ctr" indent="0" marL="0">
              <a:buNone/>
            </a:pPr>
            <a:r>
              <a:rPr lang="en-US" sz="1150" dirty="0">
                <a:solidFill>
                  <a:srgbClr val="475569"/>
                </a:solidFill>
              </a:rPr>
              <a:t>log2(data + 1) + IQR filter</a:t>
            </a:r>
            <a:endParaRPr lang="en-US" sz="1150" dirty="0"/>
          </a:p>
        </p:txBody>
      </p:sp>
      <p:sp>
        <p:nvSpPr>
          <p:cNvPr id="15" name="Shape 13"/>
          <p:cNvSpPr/>
          <p:nvPr/>
        </p:nvSpPr>
        <p:spPr>
          <a:xfrm>
            <a:off x="6647688" y="2743200"/>
            <a:ext cx="914400" cy="0"/>
          </a:xfrm>
          <a:prstGeom prst="line">
            <a:avLst/>
          </a:prstGeom>
          <a:noFill/>
          <a:ln w="12700">
            <a:solidFill>
              <a:srgbClr val="CBD5E1"/>
            </a:solidFill>
            <a:prstDash val="solid"/>
            <a:headEnd type="none"/>
            <a:tailEnd type="triangle"/>
          </a:ln>
        </p:spPr>
      </p:sp>
      <p:sp>
        <p:nvSpPr>
          <p:cNvPr id="16" name="Shape 14"/>
          <p:cNvSpPr/>
          <p:nvPr/>
        </p:nvSpPr>
        <p:spPr>
          <a:xfrm>
            <a:off x="5074920" y="2148840"/>
            <a:ext cx="1353312" cy="1353312"/>
          </a:xfrm>
          <a:prstGeom prst="ellipse">
            <a:avLst/>
          </a:prstGeom>
          <a:solidFill>
            <a:srgbClr val="F97316">
              <a:alpha val="96000"/>
            </a:srgbClr>
          </a:solidFill>
          <a:ln w="12700">
            <a:solidFill>
              <a:srgbClr val="FFFFFF"/>
            </a:solidFill>
            <a:prstDash val="solid"/>
          </a:ln>
        </p:spPr>
      </p:sp>
      <p:sp>
        <p:nvSpPr>
          <p:cNvPr id="17" name="Text 15"/>
          <p:cNvSpPr/>
          <p:nvPr/>
        </p:nvSpPr>
        <p:spPr>
          <a:xfrm>
            <a:off x="5074920" y="2514600"/>
            <a:ext cx="1353312" cy="310896"/>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8" name="Text 16"/>
          <p:cNvSpPr/>
          <p:nvPr/>
        </p:nvSpPr>
        <p:spPr>
          <a:xfrm>
            <a:off x="4837176" y="3776472"/>
            <a:ext cx="1828800" cy="274320"/>
          </a:xfrm>
          <a:prstGeom prst="rect">
            <a:avLst/>
          </a:prstGeom>
          <a:noFill/>
          <a:ln/>
        </p:spPr>
        <p:txBody>
          <a:bodyPr wrap="square" lIns="0" tIns="0" rIns="0" bIns="0" rtlCol="0" anchor="ctr"/>
          <a:lstStyle/>
          <a:p>
            <a:pPr algn="ctr" indent="0" marL="0">
              <a:buNone/>
            </a:pPr>
            <a:r>
              <a:rPr lang="en-US" sz="1600" b="1" dirty="0">
                <a:solidFill>
                  <a:srgbClr val="0B1F33"/>
                </a:solidFill>
              </a:rPr>
              <a:t>Test</a:t>
            </a:r>
            <a:endParaRPr lang="en-US" sz="1600" dirty="0"/>
          </a:p>
        </p:txBody>
      </p:sp>
      <p:sp>
        <p:nvSpPr>
          <p:cNvPr id="19" name="Text 17"/>
          <p:cNvSpPr/>
          <p:nvPr/>
        </p:nvSpPr>
        <p:spPr>
          <a:xfrm>
            <a:off x="4754880" y="4133088"/>
            <a:ext cx="2011680" cy="502920"/>
          </a:xfrm>
          <a:prstGeom prst="rect">
            <a:avLst/>
          </a:prstGeom>
          <a:noFill/>
          <a:ln/>
        </p:spPr>
        <p:txBody>
          <a:bodyPr wrap="square" lIns="254" tIns="254" rIns="254" bIns="254" rtlCol="0" anchor="ctr">
            <a:normAutofit/>
          </a:bodyPr>
          <a:lstStyle/>
          <a:p>
            <a:pPr algn="ctr" indent="0" marL="0">
              <a:buNone/>
            </a:pPr>
            <a:r>
              <a:rPr lang="en-US" sz="1150" dirty="0">
                <a:solidFill>
                  <a:srgbClr val="475569"/>
                </a:solidFill>
              </a:rPr>
              <a:t>paired t-test + FDR</a:t>
            </a:r>
            <a:endParaRPr lang="en-US" sz="1150" dirty="0"/>
          </a:p>
        </p:txBody>
      </p:sp>
      <p:sp>
        <p:nvSpPr>
          <p:cNvPr id="20" name="Shape 18"/>
          <p:cNvSpPr/>
          <p:nvPr/>
        </p:nvSpPr>
        <p:spPr>
          <a:xfrm>
            <a:off x="8842248" y="2743200"/>
            <a:ext cx="914400" cy="0"/>
          </a:xfrm>
          <a:prstGeom prst="line">
            <a:avLst/>
          </a:prstGeom>
          <a:noFill/>
          <a:ln w="12700">
            <a:solidFill>
              <a:srgbClr val="CBD5E1"/>
            </a:solidFill>
            <a:prstDash val="solid"/>
            <a:headEnd type="none"/>
            <a:tailEnd type="triangle"/>
          </a:ln>
        </p:spPr>
      </p:sp>
      <p:sp>
        <p:nvSpPr>
          <p:cNvPr id="21" name="Shape 19"/>
          <p:cNvSpPr/>
          <p:nvPr/>
        </p:nvSpPr>
        <p:spPr>
          <a:xfrm>
            <a:off x="7269480" y="2148840"/>
            <a:ext cx="1353312" cy="1353312"/>
          </a:xfrm>
          <a:prstGeom prst="ellipse">
            <a:avLst/>
          </a:prstGeom>
          <a:solidFill>
            <a:srgbClr val="7C3AED">
              <a:alpha val="96000"/>
            </a:srgbClr>
          </a:solidFill>
          <a:ln w="12700">
            <a:solidFill>
              <a:srgbClr val="FFFFFF"/>
            </a:solidFill>
            <a:prstDash val="solid"/>
          </a:ln>
        </p:spPr>
      </p:sp>
      <p:sp>
        <p:nvSpPr>
          <p:cNvPr id="22" name="Text 20"/>
          <p:cNvSpPr/>
          <p:nvPr/>
        </p:nvSpPr>
        <p:spPr>
          <a:xfrm>
            <a:off x="7269480" y="2514600"/>
            <a:ext cx="1353312" cy="310896"/>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3" name="Text 21"/>
          <p:cNvSpPr/>
          <p:nvPr/>
        </p:nvSpPr>
        <p:spPr>
          <a:xfrm>
            <a:off x="7031736" y="3776472"/>
            <a:ext cx="1828800" cy="274320"/>
          </a:xfrm>
          <a:prstGeom prst="rect">
            <a:avLst/>
          </a:prstGeom>
          <a:noFill/>
          <a:ln/>
        </p:spPr>
        <p:txBody>
          <a:bodyPr wrap="square" lIns="0" tIns="0" rIns="0" bIns="0" rtlCol="0" anchor="ctr"/>
          <a:lstStyle/>
          <a:p>
            <a:pPr algn="ctr" indent="0" marL="0">
              <a:buNone/>
            </a:pPr>
            <a:r>
              <a:rPr lang="en-US" sz="1600" b="1" dirty="0">
                <a:solidFill>
                  <a:srgbClr val="0B1F33"/>
                </a:solidFill>
              </a:rPr>
              <a:t>Visualize</a:t>
            </a:r>
            <a:endParaRPr lang="en-US" sz="1600" dirty="0"/>
          </a:p>
        </p:txBody>
      </p:sp>
      <p:sp>
        <p:nvSpPr>
          <p:cNvPr id="24" name="Text 22"/>
          <p:cNvSpPr/>
          <p:nvPr/>
        </p:nvSpPr>
        <p:spPr>
          <a:xfrm>
            <a:off x="6949440" y="4133088"/>
            <a:ext cx="2011680" cy="502920"/>
          </a:xfrm>
          <a:prstGeom prst="rect">
            <a:avLst/>
          </a:prstGeom>
          <a:noFill/>
          <a:ln/>
        </p:spPr>
        <p:txBody>
          <a:bodyPr wrap="square" lIns="254" tIns="254" rIns="254" bIns="254" rtlCol="0" anchor="ctr">
            <a:normAutofit/>
          </a:bodyPr>
          <a:lstStyle/>
          <a:p>
            <a:pPr algn="ctr" indent="0" marL="0">
              <a:buNone/>
            </a:pPr>
            <a:r>
              <a:rPr lang="en-US" sz="1150" dirty="0">
                <a:solidFill>
                  <a:srgbClr val="475569"/>
                </a:solidFill>
              </a:rPr>
              <a:t>volcano, boxplots, heatmap, PCA</a:t>
            </a:r>
            <a:endParaRPr lang="en-US" sz="1150" dirty="0"/>
          </a:p>
        </p:txBody>
      </p:sp>
      <p:sp>
        <p:nvSpPr>
          <p:cNvPr id="25" name="Shape 23"/>
          <p:cNvSpPr/>
          <p:nvPr/>
        </p:nvSpPr>
        <p:spPr>
          <a:xfrm>
            <a:off x="9464040" y="2148840"/>
            <a:ext cx="1353312" cy="1353312"/>
          </a:xfrm>
          <a:prstGeom prst="ellipse">
            <a:avLst/>
          </a:prstGeom>
          <a:solidFill>
            <a:srgbClr val="EF4444">
              <a:alpha val="96000"/>
            </a:srgbClr>
          </a:solidFill>
          <a:ln w="12700">
            <a:solidFill>
              <a:srgbClr val="FFFFFF"/>
            </a:solidFill>
            <a:prstDash val="solid"/>
          </a:ln>
        </p:spPr>
      </p:sp>
      <p:sp>
        <p:nvSpPr>
          <p:cNvPr id="26" name="Text 24"/>
          <p:cNvSpPr/>
          <p:nvPr/>
        </p:nvSpPr>
        <p:spPr>
          <a:xfrm>
            <a:off x="9464040" y="2514600"/>
            <a:ext cx="1353312" cy="310896"/>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27" name="Text 25"/>
          <p:cNvSpPr/>
          <p:nvPr/>
        </p:nvSpPr>
        <p:spPr>
          <a:xfrm>
            <a:off x="9226296" y="3776472"/>
            <a:ext cx="1828800" cy="274320"/>
          </a:xfrm>
          <a:prstGeom prst="rect">
            <a:avLst/>
          </a:prstGeom>
          <a:noFill/>
          <a:ln/>
        </p:spPr>
        <p:txBody>
          <a:bodyPr wrap="square" lIns="0" tIns="0" rIns="0" bIns="0" rtlCol="0" anchor="ctr"/>
          <a:lstStyle/>
          <a:p>
            <a:pPr algn="ctr" indent="0" marL="0">
              <a:buNone/>
            </a:pPr>
            <a:r>
              <a:rPr lang="en-US" sz="1600" b="1" dirty="0">
                <a:solidFill>
                  <a:srgbClr val="0B1F33"/>
                </a:solidFill>
              </a:rPr>
              <a:t>Interpret</a:t>
            </a:r>
            <a:endParaRPr lang="en-US" sz="1600" dirty="0"/>
          </a:p>
        </p:txBody>
      </p:sp>
      <p:sp>
        <p:nvSpPr>
          <p:cNvPr id="28" name="Text 26"/>
          <p:cNvSpPr/>
          <p:nvPr/>
        </p:nvSpPr>
        <p:spPr>
          <a:xfrm>
            <a:off x="9144000" y="4133088"/>
            <a:ext cx="2011680" cy="502920"/>
          </a:xfrm>
          <a:prstGeom prst="rect">
            <a:avLst/>
          </a:prstGeom>
          <a:noFill/>
          <a:ln/>
        </p:spPr>
        <p:txBody>
          <a:bodyPr wrap="square" lIns="254" tIns="254" rIns="254" bIns="254" rtlCol="0" anchor="ctr">
            <a:normAutofit/>
          </a:bodyPr>
          <a:lstStyle/>
          <a:p>
            <a:pPr algn="ctr" indent="0" marL="0">
              <a:buNone/>
            </a:pPr>
            <a:r>
              <a:rPr lang="en-US" sz="1150" dirty="0">
                <a:solidFill>
                  <a:srgbClr val="475569"/>
                </a:solidFill>
              </a:rPr>
              <a:t>EnrichR + MIENTURNET</a:t>
            </a:r>
            <a:endParaRPr lang="en-US" sz="1150" dirty="0"/>
          </a:p>
        </p:txBody>
      </p:sp>
      <p:sp>
        <p:nvSpPr>
          <p:cNvPr id="29" name="Text 27"/>
          <p:cNvSpPr/>
          <p:nvPr/>
        </p:nvSpPr>
        <p:spPr>
          <a:xfrm>
            <a:off x="685800" y="5349240"/>
            <a:ext cx="3291840" cy="274320"/>
          </a:xfrm>
          <a:prstGeom prst="rect">
            <a:avLst/>
          </a:prstGeom>
          <a:noFill/>
          <a:ln/>
        </p:spPr>
        <p:txBody>
          <a:bodyPr wrap="square" lIns="0" tIns="0" rIns="0" bIns="0" rtlCol="0" anchor="ctr"/>
          <a:lstStyle/>
          <a:p>
            <a:pPr indent="0" marL="0">
              <a:buNone/>
            </a:pPr>
            <a:r>
              <a:rPr lang="en-US" sz="1800" b="1" dirty="0">
                <a:solidFill>
                  <a:srgbClr val="0B1F33"/>
                </a:solidFill>
              </a:rPr>
              <a:t>Output of the pipeline</a:t>
            </a:r>
            <a:endParaRPr lang="en-US" sz="1800" dirty="0"/>
          </a:p>
        </p:txBody>
      </p:sp>
      <p:sp>
        <p:nvSpPr>
          <p:cNvPr id="30" name="Text 28"/>
          <p:cNvSpPr/>
          <p:nvPr/>
        </p:nvSpPr>
        <p:spPr>
          <a:xfrm>
            <a:off x="685800" y="5650992"/>
            <a:ext cx="6400800" cy="713232"/>
          </a:xfrm>
          <a:prstGeom prst="rect">
            <a:avLst/>
          </a:prstGeom>
          <a:noFill/>
          <a:ln/>
        </p:spPr>
        <p:txBody>
          <a:bodyPr wrap="square" lIns="381" tIns="381" rIns="381" bIns="381" rtlCol="0" anchor="ctr">
            <a:normAutofit/>
          </a:bodyPr>
          <a:lstStyle/>
          <a:p>
            <a:pPr marL="177800" indent="-177800">
              <a:buSzPct val="100000"/>
              <a:buChar char="•"/>
            </a:pPr>
            <a:r>
              <a:rPr lang="en-US" sz="1500" dirty="0">
                <a:solidFill>
                  <a:srgbClr val="111827"/>
                </a:solidFill>
                <a:latin typeface="Aptos" pitchFamily="34" charset="0"/>
                <a:ea typeface="Aptos" pitchFamily="34" charset="-122"/>
                <a:cs typeface="Aptos" pitchFamily="34" charset="-120"/>
              </a:rPr>
              <a:t>1667 differentially expressed genes</a:t>
            </a:r>
            <a:endParaRPr lang="en-US" sz="1500" dirty="0"/>
          </a:p>
          <a:p>
            <a:pPr marL="177800" indent="-177800">
              <a:buSzPct val="100000"/>
              <a:buChar char="•"/>
            </a:pPr>
            <a:r>
              <a:rPr lang="en-US" sz="1500" dirty="0">
                <a:solidFill>
                  <a:srgbClr val="111827"/>
                </a:solidFill>
                <a:latin typeface="Aptos" pitchFamily="34" charset="0"/>
                <a:ea typeface="Aptos" pitchFamily="34" charset="-122"/>
                <a:cs typeface="Aptos" pitchFamily="34" charset="-120"/>
              </a:rPr>
              <a:t>Directional pathway enrichment</a:t>
            </a:r>
            <a:endParaRPr lang="en-US" sz="1500" dirty="0"/>
          </a:p>
          <a:p>
            <a:pPr marL="177800" indent="-177800">
              <a:buSzPct val="100000"/>
              <a:buChar char="•"/>
            </a:pPr>
            <a:r>
              <a:rPr lang="en-US" sz="1500" dirty="0">
                <a:solidFill>
                  <a:srgbClr val="111827"/>
                </a:solidFill>
                <a:latin typeface="Aptos" pitchFamily="34" charset="0"/>
                <a:ea typeface="Aptos" pitchFamily="34" charset="-122"/>
                <a:cs typeface="Aptos" pitchFamily="34" charset="-120"/>
              </a:rPr>
              <a:t>Candidate miRNA-target regulatory modules</a:t>
            </a:r>
            <a:endParaRPr lang="en-US" sz="1500" dirty="0"/>
          </a:p>
        </p:txBody>
      </p:sp>
      <p:sp>
        <p:nvSpPr>
          <p:cNvPr id="31" name="Text 29"/>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32" name="Text 30"/>
          <p:cNvSpPr/>
          <p:nvPr/>
        </p:nvSpPr>
        <p:spPr>
          <a:xfrm>
            <a:off x="11201400" y="6473952"/>
            <a:ext cx="411480" cy="219456"/>
          </a:xfrm>
          <a:prstGeom prst="rect">
            <a:avLst/>
          </a:prstGeom>
          <a:noFill/>
          <a:ln/>
        </p:spPr>
        <p:txBody>
          <a:bodyPr wrap="square" lIns="0" tIns="0" rIns="0" bIns="0" rtlCol="0" anchor="ctr"/>
          <a:lstStyle/>
          <a:p>
            <a:pPr algn="r" indent="0" marL="0">
              <a:buNone/>
            </a:pPr>
            <a:r>
              <a:rPr lang="en-US" sz="850" dirty="0">
                <a:solidFill>
                  <a:srgbClr val="64748B"/>
                </a:solidFill>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Filtering</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Preprocessing: remove low-information genes</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sp>
      <p:pic>
        <p:nvPicPr>
          <p:cNvPr id="5" name="Image 0" descr="/mnt/data/slide_assets/IQR_distribution.png">    </p:cNvPr>
          <p:cNvPicPr>
            <a:picLocks noChangeAspect="1"/>
          </p:cNvPicPr>
          <p:nvPr/>
        </p:nvPicPr>
        <p:blipFill>
          <a:blip r:embed="rId1"/>
          <a:stretch>
            <a:fillRect/>
          </a:stretch>
        </p:blipFill>
        <p:spPr>
          <a:xfrm>
            <a:off x="685800" y="1417320"/>
            <a:ext cx="4343400" cy="4343400"/>
          </a:xfrm>
          <a:prstGeom prst="rect">
            <a:avLst/>
          </a:prstGeom>
        </p:spPr>
      </p:pic>
      <p:sp>
        <p:nvSpPr>
          <p:cNvPr id="6" name="Shape 3"/>
          <p:cNvSpPr/>
          <p:nvPr/>
        </p:nvSpPr>
        <p:spPr>
          <a:xfrm>
            <a:off x="685800" y="1417320"/>
            <a:ext cx="4343400" cy="4343400"/>
          </a:xfrm>
          <a:prstGeom prst="rect">
            <a:avLst/>
          </a:prstGeom>
          <a:solidFill>
            <a:srgbClr val="FFFFFF">
              <a:alpha val="0"/>
            </a:srgbClr>
          </a:solidFill>
          <a:ln w="12700">
            <a:solidFill>
              <a:srgbClr val="CBD5E1"/>
            </a:solidFill>
            <a:prstDash val="solid"/>
          </a:ln>
        </p:spPr>
      </p:sp>
      <p:sp>
        <p:nvSpPr>
          <p:cNvPr id="7" name="Text 4"/>
          <p:cNvSpPr/>
          <p:nvPr/>
        </p:nvSpPr>
        <p:spPr>
          <a:xfrm>
            <a:off x="5486400" y="1463040"/>
            <a:ext cx="3291840" cy="310896"/>
          </a:xfrm>
          <a:prstGeom prst="rect">
            <a:avLst/>
          </a:prstGeom>
          <a:noFill/>
          <a:ln/>
        </p:spPr>
        <p:txBody>
          <a:bodyPr wrap="square" lIns="0" tIns="0" rIns="0" bIns="0" rtlCol="0" anchor="ctr"/>
          <a:lstStyle/>
          <a:p>
            <a:pPr indent="0" marL="0">
              <a:buNone/>
            </a:pPr>
            <a:r>
              <a:rPr lang="en-US" sz="2200" b="1" dirty="0">
                <a:solidFill>
                  <a:srgbClr val="0B1F33"/>
                </a:solidFill>
              </a:rPr>
              <a:t>IQR filtering</a:t>
            </a:r>
            <a:endParaRPr lang="en-US" sz="2200" dirty="0"/>
          </a:p>
        </p:txBody>
      </p:sp>
      <p:sp>
        <p:nvSpPr>
          <p:cNvPr id="8" name="Text 5"/>
          <p:cNvSpPr/>
          <p:nvPr/>
        </p:nvSpPr>
        <p:spPr>
          <a:xfrm>
            <a:off x="5486400" y="1865376"/>
            <a:ext cx="5212080" cy="1508760"/>
          </a:xfrm>
          <a:prstGeom prst="rect">
            <a:avLst/>
          </a:prstGeom>
          <a:noFill/>
          <a:ln/>
        </p:spPr>
        <p:txBody>
          <a:bodyPr wrap="square" lIns="381" tIns="381" rIns="381" bIns="381" rtlCol="0" anchor="ctr">
            <a:normAutofit/>
          </a:bodyPr>
          <a:lstStyle/>
          <a:p>
            <a:pPr marL="177800" indent="-177800">
              <a:buSzPct val="100000"/>
              <a:buChar char="•"/>
            </a:pPr>
            <a:r>
              <a:rPr lang="en-US" sz="1600" dirty="0">
                <a:solidFill>
                  <a:srgbClr val="111827"/>
                </a:solidFill>
                <a:latin typeface="Aptos" pitchFamily="34" charset="0"/>
                <a:ea typeface="Aptos" pitchFamily="34" charset="-122"/>
                <a:cs typeface="Aptos" pitchFamily="34" charset="-120"/>
              </a:rPr>
              <a:t>Expression values were transformed as log2(data + 1).</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IQR was computed for each gene across all samples.</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Genes below the 25th percentile of IQR were removed.</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This keeps genes with enough variability to be informative.</a:t>
            </a:r>
            <a:endParaRPr lang="en-US" sz="1600" dirty="0"/>
          </a:p>
        </p:txBody>
      </p:sp>
      <p:sp>
        <p:nvSpPr>
          <p:cNvPr id="9" name="Text 6"/>
          <p:cNvSpPr/>
          <p:nvPr/>
        </p:nvSpPr>
        <p:spPr>
          <a:xfrm>
            <a:off x="5486400" y="3794760"/>
            <a:ext cx="1828800" cy="438912"/>
          </a:xfrm>
          <a:prstGeom prst="rect">
            <a:avLst/>
          </a:prstGeom>
          <a:noFill/>
          <a:ln/>
        </p:spPr>
        <p:txBody>
          <a:bodyPr wrap="square" lIns="0" tIns="0" rIns="0" bIns="0" rtlCol="0" anchor="ctr"/>
          <a:lstStyle/>
          <a:p>
            <a:pPr algn="ctr" indent="0" marL="0">
              <a:buNone/>
            </a:pPr>
            <a:r>
              <a:rPr lang="en-US" sz="3000" b="1" dirty="0">
                <a:solidFill>
                  <a:srgbClr val="475569"/>
                </a:solidFill>
              </a:rPr>
              <a:t>18,503</a:t>
            </a:r>
            <a:endParaRPr lang="en-US" sz="3000" dirty="0"/>
          </a:p>
        </p:txBody>
      </p:sp>
      <p:sp>
        <p:nvSpPr>
          <p:cNvPr id="10" name="Text 7"/>
          <p:cNvSpPr/>
          <p:nvPr/>
        </p:nvSpPr>
        <p:spPr>
          <a:xfrm>
            <a:off x="5486400" y="4270248"/>
            <a:ext cx="1828800" cy="384048"/>
          </a:xfrm>
          <a:prstGeom prst="rect">
            <a:avLst/>
          </a:prstGeom>
          <a:noFill/>
          <a:ln/>
        </p:spPr>
        <p:txBody>
          <a:bodyPr wrap="square" lIns="0" tIns="0" rIns="0" bIns="0" rtlCol="0" anchor="ctr">
            <a:normAutofit/>
          </a:bodyPr>
          <a:lstStyle/>
          <a:p>
            <a:pPr algn="ctr" indent="0" marL="0">
              <a:buNone/>
            </a:pPr>
            <a:r>
              <a:rPr lang="en-US" sz="1150" dirty="0">
                <a:solidFill>
                  <a:srgbClr val="475569"/>
                </a:solidFill>
              </a:rPr>
              <a:t>genes before filtering</a:t>
            </a:r>
            <a:endParaRPr lang="en-US" sz="1150" dirty="0"/>
          </a:p>
        </p:txBody>
      </p:sp>
      <p:sp>
        <p:nvSpPr>
          <p:cNvPr id="11" name="Text 8"/>
          <p:cNvSpPr/>
          <p:nvPr/>
        </p:nvSpPr>
        <p:spPr>
          <a:xfrm>
            <a:off x="7726680" y="3794760"/>
            <a:ext cx="1828800" cy="438912"/>
          </a:xfrm>
          <a:prstGeom prst="rect">
            <a:avLst/>
          </a:prstGeom>
          <a:noFill/>
          <a:ln/>
        </p:spPr>
        <p:txBody>
          <a:bodyPr wrap="square" lIns="0" tIns="0" rIns="0" bIns="0" rtlCol="0" anchor="ctr"/>
          <a:lstStyle/>
          <a:p>
            <a:pPr algn="ctr" indent="0" marL="0">
              <a:buNone/>
            </a:pPr>
            <a:r>
              <a:rPr lang="en-US" sz="3000" b="1" dirty="0">
                <a:solidFill>
                  <a:srgbClr val="2563EB"/>
                </a:solidFill>
              </a:rPr>
              <a:t>13,877</a:t>
            </a:r>
            <a:endParaRPr lang="en-US" sz="3000" dirty="0"/>
          </a:p>
        </p:txBody>
      </p:sp>
      <p:sp>
        <p:nvSpPr>
          <p:cNvPr id="12" name="Text 9"/>
          <p:cNvSpPr/>
          <p:nvPr/>
        </p:nvSpPr>
        <p:spPr>
          <a:xfrm>
            <a:off x="7726680" y="4270248"/>
            <a:ext cx="1828800" cy="384048"/>
          </a:xfrm>
          <a:prstGeom prst="rect">
            <a:avLst/>
          </a:prstGeom>
          <a:noFill/>
          <a:ln/>
        </p:spPr>
        <p:txBody>
          <a:bodyPr wrap="square" lIns="0" tIns="0" rIns="0" bIns="0" rtlCol="0" anchor="ctr">
            <a:normAutofit/>
          </a:bodyPr>
          <a:lstStyle/>
          <a:p>
            <a:pPr algn="ctr" indent="0" marL="0">
              <a:buNone/>
            </a:pPr>
            <a:r>
              <a:rPr lang="en-US" sz="1150" dirty="0">
                <a:solidFill>
                  <a:srgbClr val="475569"/>
                </a:solidFill>
              </a:rPr>
              <a:t>genes retained</a:t>
            </a:r>
            <a:endParaRPr lang="en-US" sz="1150" dirty="0"/>
          </a:p>
        </p:txBody>
      </p:sp>
      <p:sp>
        <p:nvSpPr>
          <p:cNvPr id="13" name="Text 10"/>
          <p:cNvSpPr/>
          <p:nvPr/>
        </p:nvSpPr>
        <p:spPr>
          <a:xfrm>
            <a:off x="9921240" y="3794760"/>
            <a:ext cx="1508760" cy="438912"/>
          </a:xfrm>
          <a:prstGeom prst="rect">
            <a:avLst/>
          </a:prstGeom>
          <a:noFill/>
          <a:ln/>
        </p:spPr>
        <p:txBody>
          <a:bodyPr wrap="square" lIns="0" tIns="0" rIns="0" bIns="0" rtlCol="0" anchor="ctr"/>
          <a:lstStyle/>
          <a:p>
            <a:pPr algn="ctr" indent="0" marL="0">
              <a:buNone/>
            </a:pPr>
            <a:r>
              <a:rPr lang="en-US" sz="3000" b="1" dirty="0">
                <a:solidFill>
                  <a:srgbClr val="F97316"/>
                </a:solidFill>
              </a:rPr>
              <a:t>25%</a:t>
            </a:r>
            <a:endParaRPr lang="en-US" sz="3000" dirty="0"/>
          </a:p>
        </p:txBody>
      </p:sp>
      <p:sp>
        <p:nvSpPr>
          <p:cNvPr id="14" name="Text 11"/>
          <p:cNvSpPr/>
          <p:nvPr/>
        </p:nvSpPr>
        <p:spPr>
          <a:xfrm>
            <a:off x="9921240" y="4270248"/>
            <a:ext cx="1508760" cy="384048"/>
          </a:xfrm>
          <a:prstGeom prst="rect">
            <a:avLst/>
          </a:prstGeom>
          <a:noFill/>
          <a:ln/>
        </p:spPr>
        <p:txBody>
          <a:bodyPr wrap="square" lIns="0" tIns="0" rIns="0" bIns="0" rtlCol="0" anchor="ctr">
            <a:normAutofit/>
          </a:bodyPr>
          <a:lstStyle/>
          <a:p>
            <a:pPr algn="ctr" indent="0" marL="0">
              <a:buNone/>
            </a:pPr>
            <a:r>
              <a:rPr lang="en-US" sz="1150" dirty="0">
                <a:solidFill>
                  <a:srgbClr val="475569"/>
                </a:solidFill>
              </a:rPr>
              <a:t>low-IQR genes removed</a:t>
            </a:r>
            <a:endParaRPr lang="en-US" sz="1150" dirty="0"/>
          </a:p>
        </p:txBody>
      </p:sp>
      <p:sp>
        <p:nvSpPr>
          <p:cNvPr id="15" name="Text 12"/>
          <p:cNvSpPr/>
          <p:nvPr/>
        </p:nvSpPr>
        <p:spPr>
          <a:xfrm>
            <a:off x="5486400" y="5166360"/>
            <a:ext cx="1828800" cy="219456"/>
          </a:xfrm>
          <a:prstGeom prst="rect">
            <a:avLst/>
          </a:prstGeom>
          <a:noFill/>
          <a:ln/>
        </p:spPr>
        <p:txBody>
          <a:bodyPr wrap="square" lIns="0" tIns="0" rIns="0" bIns="0" rtlCol="0" anchor="ctr"/>
          <a:lstStyle/>
          <a:p>
            <a:pPr indent="0" marL="0">
              <a:buNone/>
            </a:pPr>
            <a:r>
              <a:rPr lang="en-US" sz="1500" b="1" dirty="0">
                <a:solidFill>
                  <a:srgbClr val="2563EB"/>
                </a:solidFill>
              </a:rPr>
              <a:t>Interpretation</a:t>
            </a:r>
            <a:endParaRPr lang="en-US" sz="1500" dirty="0"/>
          </a:p>
        </p:txBody>
      </p:sp>
      <p:sp>
        <p:nvSpPr>
          <p:cNvPr id="16" name="Text 13"/>
          <p:cNvSpPr/>
          <p:nvPr/>
        </p:nvSpPr>
        <p:spPr>
          <a:xfrm>
            <a:off x="5486400" y="5440680"/>
            <a:ext cx="5394960" cy="576072"/>
          </a:xfrm>
          <a:prstGeom prst="rect">
            <a:avLst/>
          </a:prstGeom>
          <a:noFill/>
          <a:ln/>
        </p:spPr>
        <p:txBody>
          <a:bodyPr wrap="square" lIns="254" tIns="254" rIns="254" bIns="254" rtlCol="0" anchor="ctr">
            <a:normAutofit/>
          </a:bodyPr>
          <a:lstStyle/>
          <a:p>
            <a:pPr indent="0" marL="0">
              <a:buNone/>
            </a:pPr>
            <a:r>
              <a:rPr lang="en-US" sz="1550" dirty="0">
                <a:solidFill>
                  <a:srgbClr val="111827"/>
                </a:solidFill>
              </a:rPr>
              <a:t>The histogram is highly concentrated near low IQR values, so filtering removes genes with little variation while preserving most of the transcriptomic signal.</a:t>
            </a:r>
            <a:endParaRPr lang="en-US" sz="1550" dirty="0"/>
          </a:p>
        </p:txBody>
      </p:sp>
      <p:sp>
        <p:nvSpPr>
          <p:cNvPr id="17" name="Text 14"/>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18" name="Text 15"/>
          <p:cNvSpPr/>
          <p:nvPr/>
        </p:nvSpPr>
        <p:spPr>
          <a:xfrm>
            <a:off x="11201400" y="6473952"/>
            <a:ext cx="411480" cy="219456"/>
          </a:xfrm>
          <a:prstGeom prst="rect">
            <a:avLst/>
          </a:prstGeom>
          <a:noFill/>
          <a:ln/>
        </p:spPr>
        <p:txBody>
          <a:bodyPr wrap="square" lIns="0" tIns="0" rIns="0" bIns="0" rtlCol="0" anchor="ctr"/>
          <a:lstStyle/>
          <a:p>
            <a:pPr algn="r" indent="0" marL="0">
              <a:buNone/>
            </a:pPr>
            <a:r>
              <a:rPr lang="en-US" sz="850" dirty="0">
                <a:solidFill>
                  <a:srgbClr val="64748B"/>
                </a:solidFill>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DEG results</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Differential expression: 1667 genes pass FC and FDR thresholds</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sp>
      <p:pic>
        <p:nvPicPr>
          <p:cNvPr id="5" name="Image 0" descr="/mnt/data/slide_assets/Volcano_PreFilter_1_.png">    </p:cNvPr>
          <p:cNvPicPr>
            <a:picLocks noChangeAspect="1"/>
          </p:cNvPicPr>
          <p:nvPr/>
        </p:nvPicPr>
        <p:blipFill>
          <a:blip r:embed="rId1"/>
          <a:stretch>
            <a:fillRect/>
          </a:stretch>
        </p:blipFill>
        <p:spPr>
          <a:xfrm>
            <a:off x="594360" y="1417320"/>
            <a:ext cx="3611880" cy="3611880"/>
          </a:xfrm>
          <a:prstGeom prst="rect">
            <a:avLst/>
          </a:prstGeom>
        </p:spPr>
      </p:pic>
      <p:sp>
        <p:nvSpPr>
          <p:cNvPr id="6" name="Shape 3"/>
          <p:cNvSpPr/>
          <p:nvPr/>
        </p:nvSpPr>
        <p:spPr>
          <a:xfrm>
            <a:off x="594360" y="1417320"/>
            <a:ext cx="3611880" cy="3611880"/>
          </a:xfrm>
          <a:prstGeom prst="rect">
            <a:avLst/>
          </a:prstGeom>
          <a:solidFill>
            <a:srgbClr val="FFFFFF">
              <a:alpha val="0"/>
            </a:srgbClr>
          </a:solidFill>
          <a:ln w="12700">
            <a:solidFill>
              <a:srgbClr val="CBD5E1"/>
            </a:solidFill>
            <a:prstDash val="solid"/>
          </a:ln>
        </p:spPr>
      </p:sp>
      <p:pic>
        <p:nvPicPr>
          <p:cNvPr id="7" name="Image 1" descr="/mnt/data/slide_assets/Volcano_PostFilter_1_.png">    </p:cNvPr>
          <p:cNvPicPr>
            <a:picLocks noChangeAspect="1"/>
          </p:cNvPicPr>
          <p:nvPr/>
        </p:nvPicPr>
        <p:blipFill>
          <a:blip r:embed="rId2"/>
          <a:stretch>
            <a:fillRect/>
          </a:stretch>
        </p:blipFill>
        <p:spPr>
          <a:xfrm>
            <a:off x="4343400" y="1417320"/>
            <a:ext cx="3611880" cy="3611880"/>
          </a:xfrm>
          <a:prstGeom prst="rect">
            <a:avLst/>
          </a:prstGeom>
        </p:spPr>
      </p:pic>
      <p:sp>
        <p:nvSpPr>
          <p:cNvPr id="8" name="Shape 4"/>
          <p:cNvSpPr/>
          <p:nvPr/>
        </p:nvSpPr>
        <p:spPr>
          <a:xfrm>
            <a:off x="4343400" y="1417320"/>
            <a:ext cx="3611880" cy="3611880"/>
          </a:xfrm>
          <a:prstGeom prst="rect">
            <a:avLst/>
          </a:prstGeom>
          <a:solidFill>
            <a:srgbClr val="FFFFFF">
              <a:alpha val="0"/>
            </a:srgbClr>
          </a:solidFill>
          <a:ln w="12700">
            <a:solidFill>
              <a:srgbClr val="CBD5E1"/>
            </a:solidFill>
            <a:prstDash val="solid"/>
          </a:ln>
        </p:spPr>
      </p:sp>
      <p:sp>
        <p:nvSpPr>
          <p:cNvPr id="9" name="Text 5"/>
          <p:cNvSpPr/>
          <p:nvPr/>
        </p:nvSpPr>
        <p:spPr>
          <a:xfrm>
            <a:off x="594360" y="5102352"/>
            <a:ext cx="3611880" cy="201168"/>
          </a:xfrm>
          <a:prstGeom prst="rect">
            <a:avLst/>
          </a:prstGeom>
          <a:noFill/>
          <a:ln/>
        </p:spPr>
        <p:txBody>
          <a:bodyPr wrap="square" lIns="0" tIns="0" rIns="0" bIns="0" rtlCol="0" anchor="ctr"/>
          <a:lstStyle/>
          <a:p>
            <a:pPr algn="ctr" indent="0" marL="0">
              <a:buNone/>
            </a:pPr>
            <a:r>
              <a:rPr lang="en-US" sz="1300" b="1" dirty="0">
                <a:solidFill>
                  <a:srgbClr val="475569"/>
                </a:solidFill>
              </a:rPr>
              <a:t>Before filtering</a:t>
            </a:r>
            <a:endParaRPr lang="en-US" sz="1300" dirty="0"/>
          </a:p>
        </p:txBody>
      </p:sp>
      <p:sp>
        <p:nvSpPr>
          <p:cNvPr id="10" name="Text 6"/>
          <p:cNvSpPr/>
          <p:nvPr/>
        </p:nvSpPr>
        <p:spPr>
          <a:xfrm>
            <a:off x="4343400" y="5102352"/>
            <a:ext cx="3611880" cy="201168"/>
          </a:xfrm>
          <a:prstGeom prst="rect">
            <a:avLst/>
          </a:prstGeom>
          <a:noFill/>
          <a:ln/>
        </p:spPr>
        <p:txBody>
          <a:bodyPr wrap="square" lIns="0" tIns="0" rIns="0" bIns="0" rtlCol="0" anchor="ctr"/>
          <a:lstStyle/>
          <a:p>
            <a:pPr algn="ctr" indent="0" marL="0">
              <a:buNone/>
            </a:pPr>
            <a:r>
              <a:rPr lang="en-US" sz="1300" b="1" dirty="0">
                <a:solidFill>
                  <a:srgbClr val="475569"/>
                </a:solidFill>
              </a:rPr>
              <a:t>After filtering</a:t>
            </a:r>
            <a:endParaRPr lang="en-US" sz="1300" dirty="0"/>
          </a:p>
        </p:txBody>
      </p:sp>
      <p:sp>
        <p:nvSpPr>
          <p:cNvPr id="11" name="Text 7"/>
          <p:cNvSpPr/>
          <p:nvPr/>
        </p:nvSpPr>
        <p:spPr>
          <a:xfrm>
            <a:off x="8321040" y="1508760"/>
            <a:ext cx="2011680" cy="256032"/>
          </a:xfrm>
          <a:prstGeom prst="rect">
            <a:avLst/>
          </a:prstGeom>
          <a:noFill/>
          <a:ln/>
        </p:spPr>
        <p:txBody>
          <a:bodyPr wrap="square" lIns="0" tIns="0" rIns="0" bIns="0" rtlCol="0" anchor="ctr"/>
          <a:lstStyle/>
          <a:p>
            <a:pPr indent="0" marL="0">
              <a:buNone/>
            </a:pPr>
            <a:r>
              <a:rPr lang="en-US" sz="1900" b="1" dirty="0">
                <a:solidFill>
                  <a:srgbClr val="0B1F33"/>
                </a:solidFill>
              </a:rPr>
              <a:t>Thresholds</a:t>
            </a:r>
            <a:endParaRPr lang="en-US" sz="1900" dirty="0"/>
          </a:p>
        </p:txBody>
      </p:sp>
      <p:sp>
        <p:nvSpPr>
          <p:cNvPr id="12" name="Text 8"/>
          <p:cNvSpPr/>
          <p:nvPr/>
        </p:nvSpPr>
        <p:spPr>
          <a:xfrm>
            <a:off x="8321040" y="1874520"/>
            <a:ext cx="2880360" cy="1463040"/>
          </a:xfrm>
          <a:prstGeom prst="rect">
            <a:avLst/>
          </a:prstGeom>
          <a:noFill/>
          <a:ln/>
        </p:spPr>
        <p:txBody>
          <a:bodyPr wrap="square" lIns="381" tIns="381" rIns="381" bIns="381" rtlCol="0" anchor="ctr">
            <a:normAutofit/>
          </a:bodyPr>
          <a:lstStyle/>
          <a:p>
            <a:pPr marL="177800" indent="-177800">
              <a:buSzPct val="100000"/>
              <a:buChar char="•"/>
            </a:pPr>
            <a:r>
              <a:rPr lang="en-US" sz="1600" dirty="0">
                <a:solidFill>
                  <a:srgbClr val="111827"/>
                </a:solidFill>
                <a:latin typeface="Aptos" pitchFamily="34" charset="0"/>
                <a:ea typeface="Aptos" pitchFamily="34" charset="-122"/>
                <a:cs typeface="Aptos" pitchFamily="34" charset="-120"/>
              </a:rPr>
              <a:t>Fold-change ≥ 2</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|log2FC| ≥ 1</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Adjusted p-value &lt; 0.05</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Paired Student’s t-test</a:t>
            </a:r>
            <a:endParaRPr lang="en-US" sz="1600" dirty="0"/>
          </a:p>
        </p:txBody>
      </p:sp>
      <p:sp>
        <p:nvSpPr>
          <p:cNvPr id="13" name="Text 9"/>
          <p:cNvSpPr/>
          <p:nvPr/>
        </p:nvSpPr>
        <p:spPr>
          <a:xfrm>
            <a:off x="8275320" y="3749040"/>
            <a:ext cx="1143000" cy="438912"/>
          </a:xfrm>
          <a:prstGeom prst="rect">
            <a:avLst/>
          </a:prstGeom>
          <a:noFill/>
          <a:ln/>
        </p:spPr>
        <p:txBody>
          <a:bodyPr wrap="square" lIns="0" tIns="0" rIns="0" bIns="0" rtlCol="0" anchor="ctr"/>
          <a:lstStyle/>
          <a:p>
            <a:pPr algn="ctr" indent="0" marL="0">
              <a:buNone/>
            </a:pPr>
            <a:r>
              <a:rPr lang="en-US" sz="3000" b="1" dirty="0">
                <a:solidFill>
                  <a:srgbClr val="2563EB"/>
                </a:solidFill>
              </a:rPr>
              <a:t>1667</a:t>
            </a:r>
            <a:endParaRPr lang="en-US" sz="3000" dirty="0"/>
          </a:p>
        </p:txBody>
      </p:sp>
      <p:sp>
        <p:nvSpPr>
          <p:cNvPr id="14" name="Text 10"/>
          <p:cNvSpPr/>
          <p:nvPr/>
        </p:nvSpPr>
        <p:spPr>
          <a:xfrm>
            <a:off x="8275320" y="4224528"/>
            <a:ext cx="1143000" cy="384048"/>
          </a:xfrm>
          <a:prstGeom prst="rect">
            <a:avLst/>
          </a:prstGeom>
          <a:noFill/>
          <a:ln/>
        </p:spPr>
        <p:txBody>
          <a:bodyPr wrap="square" lIns="0" tIns="0" rIns="0" bIns="0" rtlCol="0" anchor="ctr">
            <a:normAutofit/>
          </a:bodyPr>
          <a:lstStyle/>
          <a:p>
            <a:pPr algn="ctr" indent="0" marL="0">
              <a:buNone/>
            </a:pPr>
            <a:r>
              <a:rPr lang="en-US" sz="1150" dirty="0">
                <a:solidFill>
                  <a:srgbClr val="475569"/>
                </a:solidFill>
              </a:rPr>
              <a:t>DEGs</a:t>
            </a:r>
            <a:endParaRPr lang="en-US" sz="1150" dirty="0"/>
          </a:p>
        </p:txBody>
      </p:sp>
      <p:sp>
        <p:nvSpPr>
          <p:cNvPr id="15" name="Text 11"/>
          <p:cNvSpPr/>
          <p:nvPr/>
        </p:nvSpPr>
        <p:spPr>
          <a:xfrm>
            <a:off x="9464040" y="3749040"/>
            <a:ext cx="1234440" cy="438912"/>
          </a:xfrm>
          <a:prstGeom prst="rect">
            <a:avLst/>
          </a:prstGeom>
          <a:noFill/>
          <a:ln/>
        </p:spPr>
        <p:txBody>
          <a:bodyPr wrap="square" lIns="0" tIns="0" rIns="0" bIns="0" rtlCol="0" anchor="ctr"/>
          <a:lstStyle/>
          <a:p>
            <a:pPr algn="ctr" indent="0" marL="0">
              <a:buNone/>
            </a:pPr>
            <a:r>
              <a:rPr lang="en-US" sz="3000" b="1" dirty="0">
                <a:solidFill>
                  <a:srgbClr val="D946EF"/>
                </a:solidFill>
              </a:rPr>
              <a:t>602</a:t>
            </a:r>
            <a:endParaRPr lang="en-US" sz="3000" dirty="0"/>
          </a:p>
        </p:txBody>
      </p:sp>
      <p:sp>
        <p:nvSpPr>
          <p:cNvPr id="16" name="Text 12"/>
          <p:cNvSpPr/>
          <p:nvPr/>
        </p:nvSpPr>
        <p:spPr>
          <a:xfrm>
            <a:off x="9464040" y="4224528"/>
            <a:ext cx="1234440" cy="384048"/>
          </a:xfrm>
          <a:prstGeom prst="rect">
            <a:avLst/>
          </a:prstGeom>
          <a:noFill/>
          <a:ln/>
        </p:spPr>
        <p:txBody>
          <a:bodyPr wrap="square" lIns="0" tIns="0" rIns="0" bIns="0" rtlCol="0" anchor="ctr">
            <a:normAutofit/>
          </a:bodyPr>
          <a:lstStyle/>
          <a:p>
            <a:pPr algn="ctr" indent="0" marL="0">
              <a:buNone/>
            </a:pPr>
            <a:r>
              <a:rPr lang="en-US" sz="1150" dirty="0">
                <a:solidFill>
                  <a:srgbClr val="475569"/>
                </a:solidFill>
              </a:rPr>
              <a:t>UP-regulated</a:t>
            </a:r>
            <a:endParaRPr lang="en-US" sz="1150" dirty="0"/>
          </a:p>
        </p:txBody>
      </p:sp>
      <p:sp>
        <p:nvSpPr>
          <p:cNvPr id="17" name="Text 13"/>
          <p:cNvSpPr/>
          <p:nvPr/>
        </p:nvSpPr>
        <p:spPr>
          <a:xfrm>
            <a:off x="10698480" y="3749040"/>
            <a:ext cx="1234440" cy="438912"/>
          </a:xfrm>
          <a:prstGeom prst="rect">
            <a:avLst/>
          </a:prstGeom>
          <a:noFill/>
          <a:ln/>
        </p:spPr>
        <p:txBody>
          <a:bodyPr wrap="square" lIns="0" tIns="0" rIns="0" bIns="0" rtlCol="0" anchor="ctr"/>
          <a:lstStyle/>
          <a:p>
            <a:pPr algn="ctr" indent="0" marL="0">
              <a:buNone/>
            </a:pPr>
            <a:r>
              <a:rPr lang="en-US" sz="3000" b="1" dirty="0">
                <a:solidFill>
                  <a:srgbClr val="06B6D4"/>
                </a:solidFill>
              </a:rPr>
              <a:t>1065</a:t>
            </a:r>
            <a:endParaRPr lang="en-US" sz="3000" dirty="0"/>
          </a:p>
        </p:txBody>
      </p:sp>
      <p:sp>
        <p:nvSpPr>
          <p:cNvPr id="18" name="Text 14"/>
          <p:cNvSpPr/>
          <p:nvPr/>
        </p:nvSpPr>
        <p:spPr>
          <a:xfrm>
            <a:off x="10698480" y="4224528"/>
            <a:ext cx="1234440" cy="384048"/>
          </a:xfrm>
          <a:prstGeom prst="rect">
            <a:avLst/>
          </a:prstGeom>
          <a:noFill/>
          <a:ln/>
        </p:spPr>
        <p:txBody>
          <a:bodyPr wrap="square" lIns="0" tIns="0" rIns="0" bIns="0" rtlCol="0" anchor="ctr">
            <a:normAutofit/>
          </a:bodyPr>
          <a:lstStyle/>
          <a:p>
            <a:pPr algn="ctr" indent="0" marL="0">
              <a:buNone/>
            </a:pPr>
            <a:r>
              <a:rPr lang="en-US" sz="1150" dirty="0">
                <a:solidFill>
                  <a:srgbClr val="475569"/>
                </a:solidFill>
              </a:rPr>
              <a:t>DOWN-regulated</a:t>
            </a:r>
            <a:endParaRPr lang="en-US" sz="1150" dirty="0"/>
          </a:p>
        </p:txBody>
      </p:sp>
      <p:sp>
        <p:nvSpPr>
          <p:cNvPr id="19" name="Text 15"/>
          <p:cNvSpPr/>
          <p:nvPr/>
        </p:nvSpPr>
        <p:spPr>
          <a:xfrm>
            <a:off x="8275320" y="5102352"/>
            <a:ext cx="3291840" cy="594360"/>
          </a:xfrm>
          <a:prstGeom prst="rect">
            <a:avLst/>
          </a:prstGeom>
          <a:noFill/>
          <a:ln/>
        </p:spPr>
        <p:txBody>
          <a:bodyPr wrap="square" lIns="254" tIns="254" rIns="254" bIns="254" rtlCol="0" anchor="ctr">
            <a:normAutofit/>
          </a:bodyPr>
          <a:lstStyle/>
          <a:p>
            <a:pPr indent="0" marL="0">
              <a:buNone/>
            </a:pPr>
            <a:r>
              <a:rPr lang="en-US" sz="1370" dirty="0">
                <a:solidFill>
                  <a:srgbClr val="111827"/>
                </a:solidFill>
              </a:rPr>
              <a:t>Positive logFC = higher expression in tumor. Negative logFC = lower expression in tumor.</a:t>
            </a:r>
            <a:endParaRPr lang="en-US" sz="1370" dirty="0"/>
          </a:p>
        </p:txBody>
      </p:sp>
      <p:sp>
        <p:nvSpPr>
          <p:cNvPr id="20" name="Text 16"/>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21" name="Text 17"/>
          <p:cNvSpPr/>
          <p:nvPr/>
        </p:nvSpPr>
        <p:spPr>
          <a:xfrm>
            <a:off x="11201400" y="6473952"/>
            <a:ext cx="411480" cy="219456"/>
          </a:xfrm>
          <a:prstGeom prst="rect">
            <a:avLst/>
          </a:prstGeom>
          <a:noFill/>
          <a:ln/>
        </p:spPr>
        <p:txBody>
          <a:bodyPr wrap="square" lIns="0" tIns="0" rIns="0" bIns="0" rtlCol="0" anchor="ctr"/>
          <a:lstStyle/>
          <a:p>
            <a:pPr algn="r" indent="0" marL="0">
              <a:buNone/>
            </a:pPr>
            <a:r>
              <a:rPr lang="en-US" sz="850" dirty="0">
                <a:solidFill>
                  <a:srgbClr val="64748B"/>
                </a:solidFill>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Quality check</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DEG profiles separate tumor from adjacent normal samples</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sp>
      <p:pic>
        <p:nvPicPr>
          <p:cNvPr id="5" name="Image 0" descr="/mnt/data/slide_assets/Heatmap_DEGs_1_.png">    </p:cNvPr>
          <p:cNvPicPr>
            <a:picLocks noChangeAspect="1"/>
          </p:cNvPicPr>
          <p:nvPr/>
        </p:nvPicPr>
        <p:blipFill>
          <a:blip r:embed="rId1"/>
          <a:stretch>
            <a:fillRect/>
          </a:stretch>
        </p:blipFill>
        <p:spPr>
          <a:xfrm>
            <a:off x="822960" y="1353312"/>
            <a:ext cx="4754880" cy="4754880"/>
          </a:xfrm>
          <a:prstGeom prst="rect">
            <a:avLst/>
          </a:prstGeom>
        </p:spPr>
      </p:pic>
      <p:sp>
        <p:nvSpPr>
          <p:cNvPr id="6" name="Shape 3"/>
          <p:cNvSpPr/>
          <p:nvPr/>
        </p:nvSpPr>
        <p:spPr>
          <a:xfrm>
            <a:off x="640080" y="1353312"/>
            <a:ext cx="5120640" cy="4754880"/>
          </a:xfrm>
          <a:prstGeom prst="rect">
            <a:avLst/>
          </a:prstGeom>
          <a:solidFill>
            <a:srgbClr val="FFFFFF">
              <a:alpha val="0"/>
            </a:srgbClr>
          </a:solidFill>
          <a:ln w="12700">
            <a:solidFill>
              <a:srgbClr val="CBD5E1"/>
            </a:solidFill>
            <a:prstDash val="solid"/>
          </a:ln>
        </p:spPr>
      </p:sp>
      <p:pic>
        <p:nvPicPr>
          <p:cNvPr id="7" name="Image 1" descr="/mnt/data/slide_assets/PCA_DEGs_1_.png">    </p:cNvPr>
          <p:cNvPicPr>
            <a:picLocks noChangeAspect="1"/>
          </p:cNvPicPr>
          <p:nvPr/>
        </p:nvPicPr>
        <p:blipFill>
          <a:blip r:embed="rId2"/>
          <a:stretch>
            <a:fillRect/>
          </a:stretch>
        </p:blipFill>
        <p:spPr>
          <a:xfrm>
            <a:off x="6080760" y="1508760"/>
            <a:ext cx="3886200" cy="3886200"/>
          </a:xfrm>
          <a:prstGeom prst="rect">
            <a:avLst/>
          </a:prstGeom>
        </p:spPr>
      </p:pic>
      <p:sp>
        <p:nvSpPr>
          <p:cNvPr id="8" name="Shape 4"/>
          <p:cNvSpPr/>
          <p:nvPr/>
        </p:nvSpPr>
        <p:spPr>
          <a:xfrm>
            <a:off x="6080760" y="1508760"/>
            <a:ext cx="3886200" cy="3886200"/>
          </a:xfrm>
          <a:prstGeom prst="rect">
            <a:avLst/>
          </a:prstGeom>
          <a:solidFill>
            <a:srgbClr val="FFFFFF">
              <a:alpha val="0"/>
            </a:srgbClr>
          </a:solidFill>
          <a:ln w="12700">
            <a:solidFill>
              <a:srgbClr val="CBD5E1"/>
            </a:solidFill>
            <a:prstDash val="solid"/>
          </a:ln>
        </p:spPr>
      </p:sp>
      <p:sp>
        <p:nvSpPr>
          <p:cNvPr id="9" name="Text 5"/>
          <p:cNvSpPr/>
          <p:nvPr/>
        </p:nvSpPr>
        <p:spPr>
          <a:xfrm>
            <a:off x="640080" y="6199632"/>
            <a:ext cx="5120640" cy="201168"/>
          </a:xfrm>
          <a:prstGeom prst="rect">
            <a:avLst/>
          </a:prstGeom>
          <a:noFill/>
          <a:ln/>
        </p:spPr>
        <p:txBody>
          <a:bodyPr wrap="square" lIns="0" tIns="0" rIns="0" bIns="0" rtlCol="0" anchor="ctr"/>
          <a:lstStyle/>
          <a:p>
            <a:pPr algn="ctr" indent="0" marL="0">
              <a:buNone/>
            </a:pPr>
            <a:r>
              <a:rPr lang="en-US" sz="1300" b="1" dirty="0">
                <a:solidFill>
                  <a:srgbClr val="475569"/>
                </a:solidFill>
              </a:rPr>
              <a:t>Heatmap</a:t>
            </a:r>
            <a:endParaRPr lang="en-US" sz="1300" dirty="0"/>
          </a:p>
        </p:txBody>
      </p:sp>
      <p:sp>
        <p:nvSpPr>
          <p:cNvPr id="10" name="Text 6"/>
          <p:cNvSpPr/>
          <p:nvPr/>
        </p:nvSpPr>
        <p:spPr>
          <a:xfrm>
            <a:off x="6080760" y="5486400"/>
            <a:ext cx="3886200" cy="201168"/>
          </a:xfrm>
          <a:prstGeom prst="rect">
            <a:avLst/>
          </a:prstGeom>
          <a:noFill/>
          <a:ln/>
        </p:spPr>
        <p:txBody>
          <a:bodyPr wrap="square" lIns="0" tIns="0" rIns="0" bIns="0" rtlCol="0" anchor="ctr"/>
          <a:lstStyle/>
          <a:p>
            <a:pPr algn="ctr" indent="0" marL="0">
              <a:buNone/>
            </a:pPr>
            <a:r>
              <a:rPr lang="en-US" sz="1300" b="1" dirty="0">
                <a:solidFill>
                  <a:srgbClr val="475569"/>
                </a:solidFill>
              </a:rPr>
              <a:t>PCA</a:t>
            </a:r>
            <a:endParaRPr lang="en-US" sz="1300" dirty="0"/>
          </a:p>
        </p:txBody>
      </p:sp>
      <p:sp>
        <p:nvSpPr>
          <p:cNvPr id="11" name="Text 7"/>
          <p:cNvSpPr/>
          <p:nvPr/>
        </p:nvSpPr>
        <p:spPr>
          <a:xfrm>
            <a:off x="10287000" y="1508760"/>
            <a:ext cx="1280160" cy="219456"/>
          </a:xfrm>
          <a:prstGeom prst="rect">
            <a:avLst/>
          </a:prstGeom>
          <a:noFill/>
          <a:ln/>
        </p:spPr>
        <p:txBody>
          <a:bodyPr wrap="square" lIns="0" tIns="0" rIns="0" bIns="0" rtlCol="0" anchor="ctr"/>
          <a:lstStyle/>
          <a:p>
            <a:pPr indent="0" marL="0">
              <a:buNone/>
            </a:pPr>
            <a:r>
              <a:rPr lang="en-US" sz="1400" b="1" dirty="0">
                <a:solidFill>
                  <a:srgbClr val="2563EB"/>
                </a:solidFill>
              </a:rPr>
              <a:t>Key readout</a:t>
            </a:r>
            <a:endParaRPr lang="en-US" sz="1400" dirty="0"/>
          </a:p>
        </p:txBody>
      </p:sp>
      <p:sp>
        <p:nvSpPr>
          <p:cNvPr id="12" name="Text 8"/>
          <p:cNvSpPr/>
          <p:nvPr/>
        </p:nvSpPr>
        <p:spPr>
          <a:xfrm>
            <a:off x="10287000" y="1783080"/>
            <a:ext cx="1417320" cy="1097280"/>
          </a:xfrm>
          <a:prstGeom prst="rect">
            <a:avLst/>
          </a:prstGeom>
          <a:noFill/>
          <a:ln/>
        </p:spPr>
        <p:txBody>
          <a:bodyPr wrap="square" lIns="254" tIns="254" rIns="254" bIns="254" rtlCol="0" anchor="ctr">
            <a:normAutofit/>
          </a:bodyPr>
          <a:lstStyle/>
          <a:p>
            <a:pPr indent="0" marL="0">
              <a:buNone/>
            </a:pPr>
            <a:r>
              <a:rPr lang="en-US" sz="1260" dirty="0">
                <a:solidFill>
                  <a:srgbClr val="111827"/>
                </a:solidFill>
              </a:rPr>
              <a:t>PC1 explains 45.2% of variance and clearly separates normal and tumor samples.</a:t>
            </a:r>
            <a:endParaRPr lang="en-US" sz="1260" dirty="0"/>
          </a:p>
        </p:txBody>
      </p:sp>
      <p:sp>
        <p:nvSpPr>
          <p:cNvPr id="13" name="Shape 9"/>
          <p:cNvSpPr/>
          <p:nvPr/>
        </p:nvSpPr>
        <p:spPr>
          <a:xfrm>
            <a:off x="10287000" y="3154680"/>
            <a:ext cx="1325880" cy="0"/>
          </a:xfrm>
          <a:prstGeom prst="line">
            <a:avLst/>
          </a:prstGeom>
          <a:noFill/>
          <a:ln w="12700">
            <a:solidFill>
              <a:srgbClr val="CBD5E1"/>
            </a:solidFill>
            <a:prstDash val="solid"/>
          </a:ln>
        </p:spPr>
      </p:sp>
      <p:sp>
        <p:nvSpPr>
          <p:cNvPr id="14" name="Text 10"/>
          <p:cNvSpPr/>
          <p:nvPr/>
        </p:nvSpPr>
        <p:spPr>
          <a:xfrm>
            <a:off x="10287000" y="3429000"/>
            <a:ext cx="1417320" cy="1143000"/>
          </a:xfrm>
          <a:prstGeom prst="rect">
            <a:avLst/>
          </a:prstGeom>
          <a:noFill/>
          <a:ln/>
        </p:spPr>
        <p:txBody>
          <a:bodyPr wrap="square" lIns="254" tIns="254" rIns="254" bIns="254" rtlCol="0" anchor="ctr">
            <a:normAutofit/>
          </a:bodyPr>
          <a:lstStyle/>
          <a:p>
            <a:pPr indent="0" marL="0">
              <a:buNone/>
            </a:pPr>
            <a:r>
              <a:rPr lang="en-US" sz="1260" dirty="0">
                <a:solidFill>
                  <a:srgbClr val="111827"/>
                </a:solidFill>
              </a:rPr>
              <a:t>The heatmap shows opposite expression blocks for UP and DOWN genes.</a:t>
            </a:r>
            <a:endParaRPr lang="en-US" sz="1260" dirty="0"/>
          </a:p>
        </p:txBody>
      </p:sp>
      <p:sp>
        <p:nvSpPr>
          <p:cNvPr id="15" name="Text 11"/>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16" name="Text 12"/>
          <p:cNvSpPr/>
          <p:nvPr/>
        </p:nvSpPr>
        <p:spPr>
          <a:xfrm>
            <a:off x="11201400" y="6473952"/>
            <a:ext cx="411480" cy="219456"/>
          </a:xfrm>
          <a:prstGeom prst="rect">
            <a:avLst/>
          </a:prstGeom>
          <a:noFill/>
          <a:ln/>
        </p:spPr>
        <p:txBody>
          <a:bodyPr wrap="square" lIns="0" tIns="0" rIns="0" bIns="0" rtlCol="0" anchor="ctr"/>
          <a:lstStyle/>
          <a:p>
            <a:pPr algn="r" indent="0" marL="0">
              <a:buNone/>
            </a:pPr>
            <a:r>
              <a:rPr lang="en-US" sz="850" dirty="0">
                <a:solidFill>
                  <a:srgbClr val="64748B"/>
                </a:solidFill>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Top genes by logFC</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Representative genes validate the direction of change</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sp>
      <p:pic>
        <p:nvPicPr>
          <p:cNvPr id="5" name="Image 0" descr="/mnt/data/slide_assets/Boxplot_UP_ZIC2_1_.png">    </p:cNvPr>
          <p:cNvPicPr>
            <a:picLocks noChangeAspect="1"/>
          </p:cNvPicPr>
          <p:nvPr/>
        </p:nvPicPr>
        <p:blipFill>
          <a:blip r:embed="rId1"/>
          <a:stretch>
            <a:fillRect/>
          </a:stretch>
        </p:blipFill>
        <p:spPr>
          <a:xfrm>
            <a:off x="822960" y="1417320"/>
            <a:ext cx="4480560" cy="4480560"/>
          </a:xfrm>
          <a:prstGeom prst="rect">
            <a:avLst/>
          </a:prstGeom>
        </p:spPr>
      </p:pic>
      <p:sp>
        <p:nvSpPr>
          <p:cNvPr id="6" name="Shape 3"/>
          <p:cNvSpPr/>
          <p:nvPr/>
        </p:nvSpPr>
        <p:spPr>
          <a:xfrm>
            <a:off x="822960" y="1417320"/>
            <a:ext cx="4480560" cy="4480560"/>
          </a:xfrm>
          <a:prstGeom prst="rect">
            <a:avLst/>
          </a:prstGeom>
          <a:solidFill>
            <a:srgbClr val="FFFFFF">
              <a:alpha val="0"/>
            </a:srgbClr>
          </a:solidFill>
          <a:ln w="12700">
            <a:solidFill>
              <a:srgbClr val="CBD5E1"/>
            </a:solidFill>
            <a:prstDash val="solid"/>
          </a:ln>
        </p:spPr>
      </p:sp>
      <p:pic>
        <p:nvPicPr>
          <p:cNvPr id="7" name="Image 1" descr="/mnt/data/slide_assets/Boxplot_DOWN_CLEC1B_1_.png">    </p:cNvPr>
          <p:cNvPicPr>
            <a:picLocks noChangeAspect="1"/>
          </p:cNvPicPr>
          <p:nvPr/>
        </p:nvPicPr>
        <p:blipFill>
          <a:blip r:embed="rId2"/>
          <a:stretch>
            <a:fillRect/>
          </a:stretch>
        </p:blipFill>
        <p:spPr>
          <a:xfrm>
            <a:off x="6400800" y="1417320"/>
            <a:ext cx="4480560" cy="4480560"/>
          </a:xfrm>
          <a:prstGeom prst="rect">
            <a:avLst/>
          </a:prstGeom>
        </p:spPr>
      </p:pic>
      <p:sp>
        <p:nvSpPr>
          <p:cNvPr id="8" name="Shape 4"/>
          <p:cNvSpPr/>
          <p:nvPr/>
        </p:nvSpPr>
        <p:spPr>
          <a:xfrm>
            <a:off x="6400800" y="1417320"/>
            <a:ext cx="4480560" cy="4480560"/>
          </a:xfrm>
          <a:prstGeom prst="rect">
            <a:avLst/>
          </a:prstGeom>
          <a:solidFill>
            <a:srgbClr val="FFFFFF">
              <a:alpha val="0"/>
            </a:srgbClr>
          </a:solidFill>
          <a:ln w="12700">
            <a:solidFill>
              <a:srgbClr val="CBD5E1"/>
            </a:solidFill>
            <a:prstDash val="solid"/>
          </a:ln>
        </p:spPr>
      </p:sp>
      <p:sp>
        <p:nvSpPr>
          <p:cNvPr id="9" name="Shape 5"/>
          <p:cNvSpPr/>
          <p:nvPr/>
        </p:nvSpPr>
        <p:spPr>
          <a:xfrm>
            <a:off x="1417320" y="5961888"/>
            <a:ext cx="3291840" cy="329184"/>
          </a:xfrm>
          <a:prstGeom prst="roundRect">
            <a:avLst>
              <a:gd name="adj" fmla="val 25000"/>
            </a:avLst>
          </a:prstGeom>
          <a:solidFill>
            <a:srgbClr val="D946EF">
              <a:alpha val="94000"/>
            </a:srgbClr>
          </a:solidFill>
          <a:ln w="12700">
            <a:solidFill>
              <a:srgbClr val="D946EF">
                <a:alpha val="0"/>
              </a:srgbClr>
            </a:solidFill>
            <a:prstDash val="solid"/>
          </a:ln>
        </p:spPr>
      </p:sp>
      <p:sp>
        <p:nvSpPr>
          <p:cNvPr id="10" name="Text 6"/>
          <p:cNvSpPr/>
          <p:nvPr/>
        </p:nvSpPr>
        <p:spPr>
          <a:xfrm>
            <a:off x="1527048" y="6044184"/>
            <a:ext cx="3072384" cy="146304"/>
          </a:xfrm>
          <a:prstGeom prst="rect">
            <a:avLst/>
          </a:prstGeom>
          <a:noFill/>
          <a:ln/>
        </p:spPr>
        <p:txBody>
          <a:bodyPr wrap="square" lIns="0" tIns="0" rIns="0" bIns="0" rtlCol="0" anchor="ctr"/>
          <a:lstStyle/>
          <a:p>
            <a:pPr algn="ctr" indent="0" marL="0">
              <a:buNone/>
            </a:pPr>
            <a:r>
              <a:rPr lang="en-US" sz="1050" b="1" dirty="0">
                <a:solidFill>
                  <a:srgbClr val="FFFFFF"/>
                </a:solidFill>
              </a:rPr>
              <a:t>ZIC2: top UP-regulated gene</a:t>
            </a:r>
            <a:endParaRPr lang="en-US" sz="1050" dirty="0"/>
          </a:p>
        </p:txBody>
      </p:sp>
      <p:sp>
        <p:nvSpPr>
          <p:cNvPr id="11" name="Shape 7"/>
          <p:cNvSpPr/>
          <p:nvPr/>
        </p:nvSpPr>
        <p:spPr>
          <a:xfrm>
            <a:off x="6812280" y="5961888"/>
            <a:ext cx="3657600" cy="329184"/>
          </a:xfrm>
          <a:prstGeom prst="roundRect">
            <a:avLst>
              <a:gd name="adj" fmla="val 25000"/>
            </a:avLst>
          </a:prstGeom>
          <a:solidFill>
            <a:srgbClr val="06B6D4">
              <a:alpha val="94000"/>
            </a:srgbClr>
          </a:solidFill>
          <a:ln w="12700">
            <a:solidFill>
              <a:srgbClr val="06B6D4">
                <a:alpha val="0"/>
              </a:srgbClr>
            </a:solidFill>
            <a:prstDash val="solid"/>
          </a:ln>
        </p:spPr>
      </p:sp>
      <p:sp>
        <p:nvSpPr>
          <p:cNvPr id="12" name="Text 8"/>
          <p:cNvSpPr/>
          <p:nvPr/>
        </p:nvSpPr>
        <p:spPr>
          <a:xfrm>
            <a:off x="6922008" y="6044184"/>
            <a:ext cx="3438144" cy="146304"/>
          </a:xfrm>
          <a:prstGeom prst="rect">
            <a:avLst/>
          </a:prstGeom>
          <a:noFill/>
          <a:ln/>
        </p:spPr>
        <p:txBody>
          <a:bodyPr wrap="square" lIns="0" tIns="0" rIns="0" bIns="0" rtlCol="0" anchor="ctr"/>
          <a:lstStyle/>
          <a:p>
            <a:pPr algn="ctr" indent="0" marL="0">
              <a:buNone/>
            </a:pPr>
            <a:r>
              <a:rPr lang="en-US" sz="1050" b="1" dirty="0">
                <a:solidFill>
                  <a:srgbClr val="FFFFFF"/>
                </a:solidFill>
              </a:rPr>
              <a:t>CLEC1B: top DOWN-regulated gene</a:t>
            </a:r>
            <a:endParaRPr lang="en-US" sz="1050" dirty="0"/>
          </a:p>
        </p:txBody>
      </p:sp>
      <p:sp>
        <p:nvSpPr>
          <p:cNvPr id="13" name="Text 9"/>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14" name="Text 10"/>
          <p:cNvSpPr/>
          <p:nvPr/>
        </p:nvSpPr>
        <p:spPr>
          <a:xfrm>
            <a:off x="11201400" y="6473952"/>
            <a:ext cx="411480" cy="219456"/>
          </a:xfrm>
          <a:prstGeom prst="rect">
            <a:avLst/>
          </a:prstGeom>
          <a:noFill/>
          <a:ln/>
        </p:spPr>
        <p:txBody>
          <a:bodyPr wrap="square" lIns="0" tIns="0" rIns="0" bIns="0" rtlCol="0" anchor="ctr"/>
          <a:lstStyle/>
          <a:p>
            <a:pPr algn="r" indent="0" marL="0">
              <a:buNone/>
            </a:pPr>
            <a:r>
              <a:rPr lang="en-US" sz="850" dirty="0">
                <a:solidFill>
                  <a:srgbClr val="64748B"/>
                </a:solidFill>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Functional enrichment</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UP-regulated genes: cell cycle and mitotic proliferation</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sp>
      <p:pic>
        <p:nvPicPr>
          <p:cNvPr id="5" name="Image 0" descr="/mnt/data/slide_assets/Reactome_UP_barplot_1_.png">    </p:cNvPr>
          <p:cNvPicPr>
            <a:picLocks noChangeAspect="1"/>
          </p:cNvPicPr>
          <p:nvPr/>
        </p:nvPicPr>
        <p:blipFill>
          <a:blip r:embed="rId1"/>
          <a:stretch>
            <a:fillRect/>
          </a:stretch>
        </p:blipFill>
        <p:spPr>
          <a:xfrm>
            <a:off x="685800" y="1371600"/>
            <a:ext cx="3886200" cy="3886200"/>
          </a:xfrm>
          <a:prstGeom prst="rect">
            <a:avLst/>
          </a:prstGeom>
        </p:spPr>
      </p:pic>
      <p:sp>
        <p:nvSpPr>
          <p:cNvPr id="6" name="Shape 3"/>
          <p:cNvSpPr/>
          <p:nvPr/>
        </p:nvSpPr>
        <p:spPr>
          <a:xfrm>
            <a:off x="685800" y="1371600"/>
            <a:ext cx="3886200" cy="3886200"/>
          </a:xfrm>
          <a:prstGeom prst="rect">
            <a:avLst/>
          </a:prstGeom>
          <a:solidFill>
            <a:srgbClr val="FFFFFF">
              <a:alpha val="0"/>
            </a:srgbClr>
          </a:solidFill>
          <a:ln w="12700">
            <a:solidFill>
              <a:srgbClr val="CBD5E1"/>
            </a:solidFill>
            <a:prstDash val="solid"/>
          </a:ln>
        </p:spPr>
      </p:sp>
      <p:pic>
        <p:nvPicPr>
          <p:cNvPr id="7" name="Image 1" descr="/mnt/data/slide_assets/KEGG_UP_barplot_1_.png">    </p:cNvPr>
          <p:cNvPicPr>
            <a:picLocks noChangeAspect="1"/>
          </p:cNvPicPr>
          <p:nvPr/>
        </p:nvPicPr>
        <p:blipFill>
          <a:blip r:embed="rId2"/>
          <a:stretch>
            <a:fillRect/>
          </a:stretch>
        </p:blipFill>
        <p:spPr>
          <a:xfrm>
            <a:off x="4800600" y="1371600"/>
            <a:ext cx="3886200" cy="3886200"/>
          </a:xfrm>
          <a:prstGeom prst="rect">
            <a:avLst/>
          </a:prstGeom>
        </p:spPr>
      </p:pic>
      <p:sp>
        <p:nvSpPr>
          <p:cNvPr id="8" name="Shape 4"/>
          <p:cNvSpPr/>
          <p:nvPr/>
        </p:nvSpPr>
        <p:spPr>
          <a:xfrm>
            <a:off x="4800600" y="1371600"/>
            <a:ext cx="3886200" cy="3886200"/>
          </a:xfrm>
          <a:prstGeom prst="rect">
            <a:avLst/>
          </a:prstGeom>
          <a:solidFill>
            <a:srgbClr val="FFFFFF">
              <a:alpha val="0"/>
            </a:srgbClr>
          </a:solidFill>
          <a:ln w="12700">
            <a:solidFill>
              <a:srgbClr val="CBD5E1"/>
            </a:solidFill>
            <a:prstDash val="solid"/>
          </a:ln>
        </p:spPr>
      </p:sp>
      <p:sp>
        <p:nvSpPr>
          <p:cNvPr id="9" name="Text 5"/>
          <p:cNvSpPr/>
          <p:nvPr/>
        </p:nvSpPr>
        <p:spPr>
          <a:xfrm>
            <a:off x="685800" y="5376672"/>
            <a:ext cx="3886200" cy="201168"/>
          </a:xfrm>
          <a:prstGeom prst="rect">
            <a:avLst/>
          </a:prstGeom>
          <a:noFill/>
          <a:ln/>
        </p:spPr>
        <p:txBody>
          <a:bodyPr wrap="square" lIns="0" tIns="0" rIns="0" bIns="0" rtlCol="0" anchor="ctr"/>
          <a:lstStyle/>
          <a:p>
            <a:pPr algn="ctr" indent="0" marL="0">
              <a:buNone/>
            </a:pPr>
            <a:r>
              <a:rPr lang="en-US" sz="1300" b="1" dirty="0">
                <a:solidFill>
                  <a:srgbClr val="475569"/>
                </a:solidFill>
              </a:rPr>
              <a:t>Reactome</a:t>
            </a:r>
            <a:endParaRPr lang="en-US" sz="1300" dirty="0"/>
          </a:p>
        </p:txBody>
      </p:sp>
      <p:sp>
        <p:nvSpPr>
          <p:cNvPr id="10" name="Text 6"/>
          <p:cNvSpPr/>
          <p:nvPr/>
        </p:nvSpPr>
        <p:spPr>
          <a:xfrm>
            <a:off x="4800600" y="5376672"/>
            <a:ext cx="3886200" cy="201168"/>
          </a:xfrm>
          <a:prstGeom prst="rect">
            <a:avLst/>
          </a:prstGeom>
          <a:noFill/>
          <a:ln/>
        </p:spPr>
        <p:txBody>
          <a:bodyPr wrap="square" lIns="0" tIns="0" rIns="0" bIns="0" rtlCol="0" anchor="ctr"/>
          <a:lstStyle/>
          <a:p>
            <a:pPr algn="ctr" indent="0" marL="0">
              <a:buNone/>
            </a:pPr>
            <a:r>
              <a:rPr lang="en-US" sz="1300" b="1" dirty="0">
                <a:solidFill>
                  <a:srgbClr val="475569"/>
                </a:solidFill>
              </a:rPr>
              <a:t>KEGG</a:t>
            </a:r>
            <a:endParaRPr lang="en-US" sz="1300" dirty="0"/>
          </a:p>
        </p:txBody>
      </p:sp>
      <p:sp>
        <p:nvSpPr>
          <p:cNvPr id="11" name="Text 7"/>
          <p:cNvSpPr/>
          <p:nvPr/>
        </p:nvSpPr>
        <p:spPr>
          <a:xfrm>
            <a:off x="9144000" y="1508760"/>
            <a:ext cx="2560320" cy="256032"/>
          </a:xfrm>
          <a:prstGeom prst="rect">
            <a:avLst/>
          </a:prstGeom>
          <a:noFill/>
          <a:ln/>
        </p:spPr>
        <p:txBody>
          <a:bodyPr wrap="square" lIns="0" tIns="0" rIns="0" bIns="0" rtlCol="0" anchor="ctr"/>
          <a:lstStyle/>
          <a:p>
            <a:pPr indent="0" marL="0">
              <a:buNone/>
            </a:pPr>
            <a:r>
              <a:rPr lang="en-US" sz="1800" b="1" dirty="0">
                <a:solidFill>
                  <a:srgbClr val="0B1F33"/>
                </a:solidFill>
              </a:rPr>
              <a:t>Biological message</a:t>
            </a:r>
            <a:endParaRPr lang="en-US" sz="1800" dirty="0"/>
          </a:p>
        </p:txBody>
      </p:sp>
      <p:sp>
        <p:nvSpPr>
          <p:cNvPr id="12" name="Text 8"/>
          <p:cNvSpPr/>
          <p:nvPr/>
        </p:nvSpPr>
        <p:spPr>
          <a:xfrm>
            <a:off x="9144000" y="1874520"/>
            <a:ext cx="2560320" cy="2212848"/>
          </a:xfrm>
          <a:prstGeom prst="rect">
            <a:avLst/>
          </a:prstGeom>
          <a:noFill/>
          <a:ln/>
        </p:spPr>
        <p:txBody>
          <a:bodyPr wrap="square" lIns="381" tIns="381" rIns="381" bIns="381" rtlCol="0" anchor="ctr">
            <a:normAutofit/>
          </a:bodyPr>
          <a:lstStyle/>
          <a:p>
            <a:pPr marL="177800" indent="-177800">
              <a:buSzPct val="100000"/>
              <a:buChar char="•"/>
            </a:pPr>
            <a:r>
              <a:rPr lang="en-US" sz="1540" dirty="0">
                <a:solidFill>
                  <a:srgbClr val="111827"/>
                </a:solidFill>
                <a:latin typeface="Aptos" pitchFamily="34" charset="0"/>
                <a:ea typeface="Aptos" pitchFamily="34" charset="-122"/>
                <a:cs typeface="Aptos" pitchFamily="34" charset="-120"/>
              </a:rPr>
              <a:t>Cell cycle</a:t>
            </a:r>
            <a:endParaRPr lang="en-US" sz="1540" dirty="0"/>
          </a:p>
          <a:p>
            <a:pPr marL="177800" indent="-177800">
              <a:buSzPct val="100000"/>
              <a:buChar char="•"/>
            </a:pPr>
            <a:r>
              <a:rPr lang="en-US" sz="1540" dirty="0">
                <a:solidFill>
                  <a:srgbClr val="111827"/>
                </a:solidFill>
                <a:latin typeface="Aptos" pitchFamily="34" charset="0"/>
                <a:ea typeface="Aptos" pitchFamily="34" charset="-122"/>
                <a:cs typeface="Aptos" pitchFamily="34" charset="-120"/>
              </a:rPr>
              <a:t>DNA replication</a:t>
            </a:r>
            <a:endParaRPr lang="en-US" sz="1540" dirty="0"/>
          </a:p>
          <a:p>
            <a:pPr marL="177800" indent="-177800">
              <a:buSzPct val="100000"/>
              <a:buChar char="•"/>
            </a:pPr>
            <a:r>
              <a:rPr lang="en-US" sz="1540" dirty="0">
                <a:solidFill>
                  <a:srgbClr val="111827"/>
                </a:solidFill>
                <a:latin typeface="Aptos" pitchFamily="34" charset="0"/>
                <a:ea typeface="Aptos" pitchFamily="34" charset="-122"/>
                <a:cs typeface="Aptos" pitchFamily="34" charset="-120"/>
              </a:rPr>
              <a:t>Mitotic checkpoints</a:t>
            </a:r>
            <a:endParaRPr lang="en-US" sz="1540" dirty="0"/>
          </a:p>
          <a:p>
            <a:pPr marL="177800" indent="-177800">
              <a:buSzPct val="100000"/>
              <a:buChar char="•"/>
            </a:pPr>
            <a:r>
              <a:rPr lang="en-US" sz="1540" dirty="0">
                <a:solidFill>
                  <a:srgbClr val="111827"/>
                </a:solidFill>
                <a:latin typeface="Aptos" pitchFamily="34" charset="0"/>
                <a:ea typeface="Aptos" pitchFamily="34" charset="-122"/>
                <a:cs typeface="Aptos" pitchFamily="34" charset="-120"/>
              </a:rPr>
              <a:t>Chromosome segregation</a:t>
            </a:r>
            <a:endParaRPr lang="en-US" sz="1540" dirty="0"/>
          </a:p>
          <a:p>
            <a:pPr marL="177800" indent="-177800">
              <a:buSzPct val="100000"/>
              <a:buChar char="•"/>
            </a:pPr>
            <a:r>
              <a:rPr lang="en-US" sz="1540" dirty="0">
                <a:solidFill>
                  <a:srgbClr val="111827"/>
                </a:solidFill>
                <a:latin typeface="Aptos" pitchFamily="34" charset="0"/>
                <a:ea typeface="Aptos" pitchFamily="34" charset="-122"/>
                <a:cs typeface="Aptos" pitchFamily="34" charset="-120"/>
              </a:rPr>
              <a:t>p53 signaling</a:t>
            </a:r>
            <a:endParaRPr lang="en-US" sz="1540" dirty="0"/>
          </a:p>
          <a:p>
            <a:pPr marL="177800" indent="-177800">
              <a:buSzPct val="100000"/>
              <a:buChar char="•"/>
            </a:pPr>
            <a:r>
              <a:rPr lang="en-US" sz="1540" dirty="0">
                <a:solidFill>
                  <a:srgbClr val="111827"/>
                </a:solidFill>
                <a:latin typeface="Aptos" pitchFamily="34" charset="0"/>
                <a:ea typeface="Aptos" pitchFamily="34" charset="-122"/>
                <a:cs typeface="Aptos" pitchFamily="34" charset="-120"/>
              </a:rPr>
              <a:t>MicroRNAs in cancer</a:t>
            </a:r>
            <a:endParaRPr lang="en-US" sz="1540" dirty="0"/>
          </a:p>
        </p:txBody>
      </p:sp>
      <p:sp>
        <p:nvSpPr>
          <p:cNvPr id="13" name="Text 9"/>
          <p:cNvSpPr/>
          <p:nvPr/>
        </p:nvSpPr>
        <p:spPr>
          <a:xfrm>
            <a:off x="9144000" y="4572000"/>
            <a:ext cx="2423160" cy="502920"/>
          </a:xfrm>
          <a:prstGeom prst="rect">
            <a:avLst/>
          </a:prstGeom>
          <a:noFill/>
          <a:ln/>
        </p:spPr>
        <p:txBody>
          <a:bodyPr wrap="square" lIns="254" tIns="254" rIns="254" bIns="254" rtlCol="0" anchor="ctr">
            <a:normAutofit/>
          </a:bodyPr>
          <a:lstStyle/>
          <a:p>
            <a:pPr indent="0" marL="0">
              <a:buNone/>
            </a:pPr>
            <a:r>
              <a:rPr lang="en-US" sz="1800" b="1" dirty="0">
                <a:solidFill>
                  <a:srgbClr val="D946EF"/>
                </a:solidFill>
              </a:rPr>
              <a:t>Tumor samples activate proliferative programs.</a:t>
            </a:r>
            <a:endParaRPr lang="en-US" sz="1800" dirty="0"/>
          </a:p>
        </p:txBody>
      </p:sp>
      <p:sp>
        <p:nvSpPr>
          <p:cNvPr id="14" name="Text 10"/>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15" name="Text 11"/>
          <p:cNvSpPr/>
          <p:nvPr/>
        </p:nvSpPr>
        <p:spPr>
          <a:xfrm>
            <a:off x="11201400" y="6473952"/>
            <a:ext cx="411480" cy="219456"/>
          </a:xfrm>
          <a:prstGeom prst="rect">
            <a:avLst/>
          </a:prstGeom>
          <a:noFill/>
          <a:ln/>
        </p:spPr>
        <p:txBody>
          <a:bodyPr wrap="square" lIns="0" tIns="0" rIns="0" bIns="0" rtlCol="0" anchor="ctr"/>
          <a:lstStyle/>
          <a:p>
            <a:pPr algn="r" indent="0" marL="0">
              <a:buNone/>
            </a:pPr>
            <a:r>
              <a:rPr lang="en-US" sz="850" dirty="0">
                <a:solidFill>
                  <a:srgbClr val="64748B"/>
                </a:solidFill>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Functional enrichment</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DOWN-regulated genes: loss of liver metabolism and immune remodeling</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sp>
      <p:pic>
        <p:nvPicPr>
          <p:cNvPr id="5" name="Image 0" descr="/mnt/data/slide_assets/Reactome_DOWN_barplot_1_.png">    </p:cNvPr>
          <p:cNvPicPr>
            <a:picLocks noChangeAspect="1"/>
          </p:cNvPicPr>
          <p:nvPr/>
        </p:nvPicPr>
        <p:blipFill>
          <a:blip r:embed="rId1"/>
          <a:stretch>
            <a:fillRect/>
          </a:stretch>
        </p:blipFill>
        <p:spPr>
          <a:xfrm>
            <a:off x="685800" y="1371600"/>
            <a:ext cx="3886200" cy="3886200"/>
          </a:xfrm>
          <a:prstGeom prst="rect">
            <a:avLst/>
          </a:prstGeom>
        </p:spPr>
      </p:pic>
      <p:sp>
        <p:nvSpPr>
          <p:cNvPr id="6" name="Shape 3"/>
          <p:cNvSpPr/>
          <p:nvPr/>
        </p:nvSpPr>
        <p:spPr>
          <a:xfrm>
            <a:off x="685800" y="1371600"/>
            <a:ext cx="3886200" cy="3886200"/>
          </a:xfrm>
          <a:prstGeom prst="rect">
            <a:avLst/>
          </a:prstGeom>
          <a:solidFill>
            <a:srgbClr val="FFFFFF">
              <a:alpha val="0"/>
            </a:srgbClr>
          </a:solidFill>
          <a:ln w="12700">
            <a:solidFill>
              <a:srgbClr val="CBD5E1"/>
            </a:solidFill>
            <a:prstDash val="solid"/>
          </a:ln>
        </p:spPr>
      </p:sp>
      <p:pic>
        <p:nvPicPr>
          <p:cNvPr id="7" name="Image 1" descr="/mnt/data/slide_assets/KEGG_DOWN_barplot_1_.png">    </p:cNvPr>
          <p:cNvPicPr>
            <a:picLocks noChangeAspect="1"/>
          </p:cNvPicPr>
          <p:nvPr/>
        </p:nvPicPr>
        <p:blipFill>
          <a:blip r:embed="rId2"/>
          <a:stretch>
            <a:fillRect/>
          </a:stretch>
        </p:blipFill>
        <p:spPr>
          <a:xfrm>
            <a:off x="4800600" y="1371600"/>
            <a:ext cx="3886200" cy="3886200"/>
          </a:xfrm>
          <a:prstGeom prst="rect">
            <a:avLst/>
          </a:prstGeom>
        </p:spPr>
      </p:pic>
      <p:sp>
        <p:nvSpPr>
          <p:cNvPr id="8" name="Shape 4"/>
          <p:cNvSpPr/>
          <p:nvPr/>
        </p:nvSpPr>
        <p:spPr>
          <a:xfrm>
            <a:off x="4800600" y="1371600"/>
            <a:ext cx="3886200" cy="3886200"/>
          </a:xfrm>
          <a:prstGeom prst="rect">
            <a:avLst/>
          </a:prstGeom>
          <a:solidFill>
            <a:srgbClr val="FFFFFF">
              <a:alpha val="0"/>
            </a:srgbClr>
          </a:solidFill>
          <a:ln w="12700">
            <a:solidFill>
              <a:srgbClr val="CBD5E1"/>
            </a:solidFill>
            <a:prstDash val="solid"/>
          </a:ln>
        </p:spPr>
      </p:sp>
      <p:sp>
        <p:nvSpPr>
          <p:cNvPr id="9" name="Text 5"/>
          <p:cNvSpPr/>
          <p:nvPr/>
        </p:nvSpPr>
        <p:spPr>
          <a:xfrm>
            <a:off x="685800" y="5376672"/>
            <a:ext cx="3886200" cy="201168"/>
          </a:xfrm>
          <a:prstGeom prst="rect">
            <a:avLst/>
          </a:prstGeom>
          <a:noFill/>
          <a:ln/>
        </p:spPr>
        <p:txBody>
          <a:bodyPr wrap="square" lIns="0" tIns="0" rIns="0" bIns="0" rtlCol="0" anchor="ctr"/>
          <a:lstStyle/>
          <a:p>
            <a:pPr algn="ctr" indent="0" marL="0">
              <a:buNone/>
            </a:pPr>
            <a:r>
              <a:rPr lang="en-US" sz="1300" b="1" dirty="0">
                <a:solidFill>
                  <a:srgbClr val="475569"/>
                </a:solidFill>
              </a:rPr>
              <a:t>Reactome</a:t>
            </a:r>
            <a:endParaRPr lang="en-US" sz="1300" dirty="0"/>
          </a:p>
        </p:txBody>
      </p:sp>
      <p:sp>
        <p:nvSpPr>
          <p:cNvPr id="10" name="Text 6"/>
          <p:cNvSpPr/>
          <p:nvPr/>
        </p:nvSpPr>
        <p:spPr>
          <a:xfrm>
            <a:off x="4800600" y="5376672"/>
            <a:ext cx="3886200" cy="201168"/>
          </a:xfrm>
          <a:prstGeom prst="rect">
            <a:avLst/>
          </a:prstGeom>
          <a:noFill/>
          <a:ln/>
        </p:spPr>
        <p:txBody>
          <a:bodyPr wrap="square" lIns="0" tIns="0" rIns="0" bIns="0" rtlCol="0" anchor="ctr"/>
          <a:lstStyle/>
          <a:p>
            <a:pPr algn="ctr" indent="0" marL="0">
              <a:buNone/>
            </a:pPr>
            <a:r>
              <a:rPr lang="en-US" sz="1300" b="1" dirty="0">
                <a:solidFill>
                  <a:srgbClr val="475569"/>
                </a:solidFill>
              </a:rPr>
              <a:t>KEGG</a:t>
            </a:r>
            <a:endParaRPr lang="en-US" sz="1300" dirty="0"/>
          </a:p>
        </p:txBody>
      </p:sp>
      <p:sp>
        <p:nvSpPr>
          <p:cNvPr id="11" name="Text 7"/>
          <p:cNvSpPr/>
          <p:nvPr/>
        </p:nvSpPr>
        <p:spPr>
          <a:xfrm>
            <a:off x="9144000" y="1508760"/>
            <a:ext cx="2560320" cy="256032"/>
          </a:xfrm>
          <a:prstGeom prst="rect">
            <a:avLst/>
          </a:prstGeom>
          <a:noFill/>
          <a:ln/>
        </p:spPr>
        <p:txBody>
          <a:bodyPr wrap="square" lIns="0" tIns="0" rIns="0" bIns="0" rtlCol="0" anchor="ctr"/>
          <a:lstStyle/>
          <a:p>
            <a:pPr indent="0" marL="0">
              <a:buNone/>
            </a:pPr>
            <a:r>
              <a:rPr lang="en-US" sz="1800" b="1" dirty="0">
                <a:solidFill>
                  <a:srgbClr val="0B1F33"/>
                </a:solidFill>
              </a:rPr>
              <a:t>Biological message</a:t>
            </a:r>
            <a:endParaRPr lang="en-US" sz="1800" dirty="0"/>
          </a:p>
        </p:txBody>
      </p:sp>
      <p:sp>
        <p:nvSpPr>
          <p:cNvPr id="12" name="Text 8"/>
          <p:cNvSpPr/>
          <p:nvPr/>
        </p:nvSpPr>
        <p:spPr>
          <a:xfrm>
            <a:off x="9144000" y="1874520"/>
            <a:ext cx="2697480" cy="2468880"/>
          </a:xfrm>
          <a:prstGeom prst="rect">
            <a:avLst/>
          </a:prstGeom>
          <a:noFill/>
          <a:ln/>
        </p:spPr>
        <p:txBody>
          <a:bodyPr wrap="square" lIns="381" tIns="381" rIns="381" bIns="381" rtlCol="0" anchor="ctr">
            <a:normAutofit/>
          </a:bodyPr>
          <a:lstStyle/>
          <a:p>
            <a:pPr marL="177800" indent="-177800">
              <a:buSzPct val="100000"/>
              <a:buChar char="•"/>
            </a:pPr>
            <a:r>
              <a:rPr lang="en-US" sz="1480" dirty="0">
                <a:solidFill>
                  <a:srgbClr val="111827"/>
                </a:solidFill>
                <a:latin typeface="Aptos" pitchFamily="34" charset="0"/>
                <a:ea typeface="Aptos" pitchFamily="34" charset="-122"/>
                <a:cs typeface="Aptos" pitchFamily="34" charset="-120"/>
              </a:rPr>
              <a:t>Cytochrome P450 metabolism</a:t>
            </a:r>
            <a:endParaRPr lang="en-US" sz="1480" dirty="0"/>
          </a:p>
          <a:p>
            <a:pPr marL="177800" indent="-177800">
              <a:buSzPct val="100000"/>
              <a:buChar char="•"/>
            </a:pPr>
            <a:r>
              <a:rPr lang="en-US" sz="1480" dirty="0">
                <a:solidFill>
                  <a:srgbClr val="111827"/>
                </a:solidFill>
                <a:latin typeface="Aptos" pitchFamily="34" charset="0"/>
                <a:ea typeface="Aptos" pitchFamily="34" charset="-122"/>
                <a:cs typeface="Aptos" pitchFamily="34" charset="-120"/>
              </a:rPr>
              <a:t>Xenobiotic and drug metabolism</a:t>
            </a:r>
            <a:endParaRPr lang="en-US" sz="1480" dirty="0"/>
          </a:p>
          <a:p>
            <a:pPr marL="177800" indent="-177800">
              <a:buSzPct val="100000"/>
              <a:buChar char="•"/>
            </a:pPr>
            <a:r>
              <a:rPr lang="en-US" sz="1480" dirty="0">
                <a:solidFill>
                  <a:srgbClr val="111827"/>
                </a:solidFill>
                <a:latin typeface="Aptos" pitchFamily="34" charset="0"/>
                <a:ea typeface="Aptos" pitchFamily="34" charset="-122"/>
                <a:cs typeface="Aptos" pitchFamily="34" charset="-120"/>
              </a:rPr>
              <a:t>Retinol metabolism</a:t>
            </a:r>
            <a:endParaRPr lang="en-US" sz="1480" dirty="0"/>
          </a:p>
          <a:p>
            <a:pPr marL="177800" indent="-177800">
              <a:buSzPct val="100000"/>
              <a:buChar char="•"/>
            </a:pPr>
            <a:r>
              <a:rPr lang="en-US" sz="1480" dirty="0">
                <a:solidFill>
                  <a:srgbClr val="111827"/>
                </a:solidFill>
                <a:latin typeface="Aptos" pitchFamily="34" charset="0"/>
                <a:ea typeface="Aptos" pitchFamily="34" charset="-122"/>
                <a:cs typeface="Aptos" pitchFamily="34" charset="-120"/>
              </a:rPr>
              <a:t>Bile secretion</a:t>
            </a:r>
            <a:endParaRPr lang="en-US" sz="1480" dirty="0"/>
          </a:p>
          <a:p>
            <a:pPr marL="177800" indent="-177800">
              <a:buSzPct val="100000"/>
              <a:buChar char="•"/>
            </a:pPr>
            <a:r>
              <a:rPr lang="en-US" sz="1480" dirty="0">
                <a:solidFill>
                  <a:srgbClr val="111827"/>
                </a:solidFill>
                <a:latin typeface="Aptos" pitchFamily="34" charset="0"/>
                <a:ea typeface="Aptos" pitchFamily="34" charset="-122"/>
                <a:cs typeface="Aptos" pitchFamily="34" charset="-120"/>
              </a:rPr>
              <a:t>Biological oxidations</a:t>
            </a:r>
            <a:endParaRPr lang="en-US" sz="1480" dirty="0"/>
          </a:p>
          <a:p>
            <a:pPr marL="177800" indent="-177800">
              <a:buSzPct val="100000"/>
              <a:buChar char="•"/>
            </a:pPr>
            <a:r>
              <a:rPr lang="en-US" sz="1480" dirty="0">
                <a:solidFill>
                  <a:srgbClr val="111827"/>
                </a:solidFill>
                <a:latin typeface="Aptos" pitchFamily="34" charset="0"/>
                <a:ea typeface="Aptos" pitchFamily="34" charset="-122"/>
                <a:cs typeface="Aptos" pitchFamily="34" charset="-120"/>
              </a:rPr>
              <a:t>Cytokine/chemokine signaling</a:t>
            </a:r>
            <a:endParaRPr lang="en-US" sz="1480" dirty="0"/>
          </a:p>
        </p:txBody>
      </p:sp>
      <p:sp>
        <p:nvSpPr>
          <p:cNvPr id="13" name="Text 9"/>
          <p:cNvSpPr/>
          <p:nvPr/>
        </p:nvSpPr>
        <p:spPr>
          <a:xfrm>
            <a:off x="9144000" y="4617720"/>
            <a:ext cx="2560320" cy="640080"/>
          </a:xfrm>
          <a:prstGeom prst="rect">
            <a:avLst/>
          </a:prstGeom>
          <a:noFill/>
          <a:ln/>
        </p:spPr>
        <p:txBody>
          <a:bodyPr wrap="square" lIns="254" tIns="254" rIns="254" bIns="254" rtlCol="0" anchor="ctr">
            <a:normAutofit/>
          </a:bodyPr>
          <a:lstStyle/>
          <a:p>
            <a:pPr indent="0" marL="0">
              <a:buNone/>
            </a:pPr>
            <a:r>
              <a:rPr lang="en-US" sz="1700" b="1" dirty="0">
                <a:solidFill>
                  <a:srgbClr val="06B6D4"/>
                </a:solidFill>
              </a:rPr>
              <a:t>Tumor samples lose normal hepatocyte metabolic functions.</a:t>
            </a:r>
            <a:endParaRPr lang="en-US" sz="1700" dirty="0"/>
          </a:p>
        </p:txBody>
      </p:sp>
      <p:sp>
        <p:nvSpPr>
          <p:cNvPr id="14" name="Text 10"/>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15" name="Text 11"/>
          <p:cNvSpPr/>
          <p:nvPr/>
        </p:nvSpPr>
        <p:spPr>
          <a:xfrm>
            <a:off x="11201400" y="6473952"/>
            <a:ext cx="411480" cy="219456"/>
          </a:xfrm>
          <a:prstGeom prst="rect">
            <a:avLst/>
          </a:prstGeom>
          <a:noFill/>
          <a:ln/>
        </p:spPr>
        <p:txBody>
          <a:bodyPr wrap="square" lIns="0" tIns="0" rIns="0" bIns="0" rtlCol="0" anchor="ctr"/>
          <a:lstStyle/>
          <a:p>
            <a:pPr algn="r" indent="0" marL="0">
              <a:buNone/>
            </a:pPr>
            <a:r>
              <a:rPr lang="en-US" sz="850" dirty="0">
                <a:solidFill>
                  <a:srgbClr val="64748B"/>
                </a:solidFill>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miRNA-target enrichment</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MIENTURNET: candidate miRNA regulators of DEG modules</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sp>
      <p:pic>
        <p:nvPicPr>
          <p:cNvPr id="5" name="Image 0" descr="/mnt/data/slide_assets/reactome_dotplot_1_.png">    </p:cNvPr>
          <p:cNvPicPr>
            <a:picLocks noChangeAspect="1"/>
          </p:cNvPicPr>
          <p:nvPr/>
        </p:nvPicPr>
        <p:blipFill>
          <a:blip r:embed="rId1"/>
          <a:stretch>
            <a:fillRect/>
          </a:stretch>
        </p:blipFill>
        <p:spPr>
          <a:xfrm>
            <a:off x="594360" y="1421130"/>
            <a:ext cx="5394960" cy="3147060"/>
          </a:xfrm>
          <a:prstGeom prst="rect">
            <a:avLst/>
          </a:prstGeom>
        </p:spPr>
      </p:pic>
      <p:sp>
        <p:nvSpPr>
          <p:cNvPr id="6" name="Shape 3"/>
          <p:cNvSpPr/>
          <p:nvPr/>
        </p:nvSpPr>
        <p:spPr>
          <a:xfrm>
            <a:off x="594360" y="1417320"/>
            <a:ext cx="5394960" cy="3154680"/>
          </a:xfrm>
          <a:prstGeom prst="rect">
            <a:avLst/>
          </a:prstGeom>
          <a:solidFill>
            <a:srgbClr val="FFFFFF">
              <a:alpha val="0"/>
            </a:srgbClr>
          </a:solidFill>
          <a:ln w="12700">
            <a:solidFill>
              <a:srgbClr val="CBD5E1"/>
            </a:solidFill>
            <a:prstDash val="solid"/>
          </a:ln>
        </p:spPr>
      </p:sp>
      <p:pic>
        <p:nvPicPr>
          <p:cNvPr id="7" name="Image 1" descr="/mnt/data/slide_assets/kegg_dotplot.png">    </p:cNvPr>
          <p:cNvPicPr>
            <a:picLocks noChangeAspect="1"/>
          </p:cNvPicPr>
          <p:nvPr/>
        </p:nvPicPr>
        <p:blipFill>
          <a:blip r:embed="rId2"/>
          <a:stretch>
            <a:fillRect/>
          </a:stretch>
        </p:blipFill>
        <p:spPr>
          <a:xfrm>
            <a:off x="6263640" y="1421130"/>
            <a:ext cx="5394960" cy="3147060"/>
          </a:xfrm>
          <a:prstGeom prst="rect">
            <a:avLst/>
          </a:prstGeom>
        </p:spPr>
      </p:pic>
      <p:sp>
        <p:nvSpPr>
          <p:cNvPr id="8" name="Shape 4"/>
          <p:cNvSpPr/>
          <p:nvPr/>
        </p:nvSpPr>
        <p:spPr>
          <a:xfrm>
            <a:off x="6263640" y="1417320"/>
            <a:ext cx="5394960" cy="3154680"/>
          </a:xfrm>
          <a:prstGeom prst="rect">
            <a:avLst/>
          </a:prstGeom>
          <a:solidFill>
            <a:srgbClr val="FFFFFF">
              <a:alpha val="0"/>
            </a:srgbClr>
          </a:solidFill>
          <a:ln w="12700">
            <a:solidFill>
              <a:srgbClr val="CBD5E1"/>
            </a:solidFill>
            <a:prstDash val="solid"/>
          </a:ln>
        </p:spPr>
      </p:sp>
      <p:sp>
        <p:nvSpPr>
          <p:cNvPr id="9" name="Text 5"/>
          <p:cNvSpPr/>
          <p:nvPr/>
        </p:nvSpPr>
        <p:spPr>
          <a:xfrm>
            <a:off x="594360" y="4645152"/>
            <a:ext cx="5394960" cy="219456"/>
          </a:xfrm>
          <a:prstGeom prst="rect">
            <a:avLst/>
          </a:prstGeom>
          <a:noFill/>
          <a:ln/>
        </p:spPr>
        <p:txBody>
          <a:bodyPr wrap="square" lIns="0" tIns="0" rIns="0" bIns="0" rtlCol="0" anchor="ctr"/>
          <a:lstStyle/>
          <a:p>
            <a:pPr algn="ctr" indent="0" marL="0">
              <a:buNone/>
            </a:pPr>
            <a:r>
              <a:rPr lang="en-US" sz="1350" b="1" dirty="0">
                <a:solidFill>
                  <a:srgbClr val="D946EF"/>
                </a:solidFill>
              </a:rPr>
              <a:t>UP genes: cell-cycle/DNA replication miRNA-target modules</a:t>
            </a:r>
            <a:endParaRPr lang="en-US" sz="1350" dirty="0"/>
          </a:p>
        </p:txBody>
      </p:sp>
      <p:sp>
        <p:nvSpPr>
          <p:cNvPr id="10" name="Text 6"/>
          <p:cNvSpPr/>
          <p:nvPr/>
        </p:nvSpPr>
        <p:spPr>
          <a:xfrm>
            <a:off x="6263640" y="4645152"/>
            <a:ext cx="5394960" cy="219456"/>
          </a:xfrm>
          <a:prstGeom prst="rect">
            <a:avLst/>
          </a:prstGeom>
          <a:noFill/>
          <a:ln/>
        </p:spPr>
        <p:txBody>
          <a:bodyPr wrap="square" lIns="0" tIns="0" rIns="0" bIns="0" rtlCol="0" anchor="ctr"/>
          <a:lstStyle/>
          <a:p>
            <a:pPr algn="ctr" indent="0" marL="0">
              <a:buNone/>
            </a:pPr>
            <a:r>
              <a:rPr lang="en-US" sz="1350" b="1" dirty="0">
                <a:solidFill>
                  <a:srgbClr val="06B6D4"/>
                </a:solidFill>
              </a:rPr>
              <a:t>DOWN genes: immune/inflammatory miRNA-target modules</a:t>
            </a:r>
            <a:endParaRPr lang="en-US" sz="1350" dirty="0"/>
          </a:p>
        </p:txBody>
      </p:sp>
      <p:sp>
        <p:nvSpPr>
          <p:cNvPr id="11" name="Text 7"/>
          <p:cNvSpPr/>
          <p:nvPr/>
        </p:nvSpPr>
        <p:spPr>
          <a:xfrm>
            <a:off x="822960" y="5074920"/>
            <a:ext cx="4389120" cy="841248"/>
          </a:xfrm>
          <a:prstGeom prst="rect">
            <a:avLst/>
          </a:prstGeom>
          <a:noFill/>
          <a:ln/>
        </p:spPr>
        <p:txBody>
          <a:bodyPr wrap="square" lIns="381" tIns="381" rIns="381" bIns="381" rtlCol="0" anchor="ctr">
            <a:normAutofit/>
          </a:bodyPr>
          <a:lstStyle/>
          <a:p>
            <a:pPr marL="177800" indent="-177800">
              <a:buSzPct val="100000"/>
              <a:buChar char="•"/>
            </a:pPr>
            <a:r>
              <a:rPr lang="en-US" sz="1380" dirty="0">
                <a:solidFill>
                  <a:srgbClr val="111827"/>
                </a:solidFill>
                <a:latin typeface="Aptos" pitchFamily="34" charset="0"/>
                <a:ea typeface="Aptos" pitchFamily="34" charset="-122"/>
                <a:cs typeface="Aptos" pitchFamily="34" charset="-120"/>
              </a:rPr>
              <a:t>hsa-let-7b-5p</a:t>
            </a:r>
            <a:endParaRPr lang="en-US" sz="1380" dirty="0"/>
          </a:p>
          <a:p>
            <a:pPr marL="177800" indent="-177800">
              <a:buSzPct val="100000"/>
              <a:buChar char="•"/>
            </a:pPr>
            <a:r>
              <a:rPr lang="en-US" sz="1380" dirty="0">
                <a:solidFill>
                  <a:srgbClr val="111827"/>
                </a:solidFill>
                <a:latin typeface="Aptos" pitchFamily="34" charset="0"/>
                <a:ea typeface="Aptos" pitchFamily="34" charset="-122"/>
                <a:cs typeface="Aptos" pitchFamily="34" charset="-120"/>
              </a:rPr>
              <a:t>hsa-miR-192-5p</a:t>
            </a:r>
            <a:endParaRPr lang="en-US" sz="1380" dirty="0"/>
          </a:p>
          <a:p>
            <a:pPr marL="177800" indent="-177800">
              <a:buSzPct val="100000"/>
              <a:buChar char="•"/>
            </a:pPr>
            <a:r>
              <a:rPr lang="en-US" sz="1380" dirty="0">
                <a:solidFill>
                  <a:srgbClr val="111827"/>
                </a:solidFill>
                <a:latin typeface="Aptos" pitchFamily="34" charset="0"/>
                <a:ea typeface="Aptos" pitchFamily="34" charset="-122"/>
                <a:cs typeface="Aptos" pitchFamily="34" charset="-120"/>
              </a:rPr>
              <a:t>hsa-miR-193b-3p</a:t>
            </a:r>
            <a:endParaRPr lang="en-US" sz="1380" dirty="0"/>
          </a:p>
          <a:p>
            <a:pPr marL="177800" indent="-177800">
              <a:buSzPct val="100000"/>
              <a:buChar char="•"/>
            </a:pPr>
            <a:r>
              <a:rPr lang="en-US" sz="1380" dirty="0">
                <a:solidFill>
                  <a:srgbClr val="111827"/>
                </a:solidFill>
                <a:latin typeface="Aptos" pitchFamily="34" charset="0"/>
                <a:ea typeface="Aptos" pitchFamily="34" charset="-122"/>
                <a:cs typeface="Aptos" pitchFamily="34" charset="-120"/>
              </a:rPr>
              <a:t>hsa-miR-34a-5p</a:t>
            </a:r>
            <a:endParaRPr lang="en-US" sz="1380" dirty="0"/>
          </a:p>
        </p:txBody>
      </p:sp>
      <p:sp>
        <p:nvSpPr>
          <p:cNvPr id="12" name="Text 8"/>
          <p:cNvSpPr/>
          <p:nvPr/>
        </p:nvSpPr>
        <p:spPr>
          <a:xfrm>
            <a:off x="6583680" y="5074920"/>
            <a:ext cx="4023360" cy="566928"/>
          </a:xfrm>
          <a:prstGeom prst="rect">
            <a:avLst/>
          </a:prstGeom>
          <a:noFill/>
          <a:ln/>
        </p:spPr>
        <p:txBody>
          <a:bodyPr wrap="square" lIns="381" tIns="381" rIns="381" bIns="381" rtlCol="0" anchor="ctr">
            <a:normAutofit/>
          </a:bodyPr>
          <a:lstStyle/>
          <a:p>
            <a:pPr marL="177800" indent="-177800">
              <a:buSzPct val="100000"/>
              <a:buChar char="•"/>
            </a:pPr>
            <a:r>
              <a:rPr lang="en-US" sz="1380" dirty="0">
                <a:solidFill>
                  <a:srgbClr val="111827"/>
                </a:solidFill>
                <a:latin typeface="Aptos" pitchFamily="34" charset="0"/>
                <a:ea typeface="Aptos" pitchFamily="34" charset="-122"/>
                <a:cs typeface="Aptos" pitchFamily="34" charset="-120"/>
              </a:rPr>
              <a:t>hsa-miR-146a-5p</a:t>
            </a:r>
            <a:endParaRPr lang="en-US" sz="1380" dirty="0"/>
          </a:p>
          <a:p>
            <a:pPr marL="177800" indent="-177800">
              <a:buSzPct val="100000"/>
              <a:buChar char="•"/>
            </a:pPr>
            <a:r>
              <a:rPr lang="en-US" sz="1380" dirty="0">
                <a:solidFill>
                  <a:srgbClr val="111827"/>
                </a:solidFill>
                <a:latin typeface="Aptos" pitchFamily="34" charset="0"/>
                <a:ea typeface="Aptos" pitchFamily="34" charset="-122"/>
                <a:cs typeface="Aptos" pitchFamily="34" charset="-120"/>
              </a:rPr>
              <a:t>hsa-miR-335-5p</a:t>
            </a:r>
            <a:endParaRPr lang="en-US" sz="1380" dirty="0"/>
          </a:p>
        </p:txBody>
      </p:sp>
      <p:sp>
        <p:nvSpPr>
          <p:cNvPr id="13" name="Text 9"/>
          <p:cNvSpPr/>
          <p:nvPr/>
        </p:nvSpPr>
        <p:spPr>
          <a:xfrm>
            <a:off x="777240" y="6144768"/>
            <a:ext cx="10652760" cy="237744"/>
          </a:xfrm>
          <a:prstGeom prst="rect">
            <a:avLst/>
          </a:prstGeom>
          <a:noFill/>
          <a:ln/>
        </p:spPr>
        <p:txBody>
          <a:bodyPr wrap="square" lIns="0" tIns="0" rIns="0" bIns="0" rtlCol="0" anchor="ctr"/>
          <a:lstStyle/>
          <a:p>
            <a:pPr algn="ctr" indent="0" marL="0">
              <a:buNone/>
            </a:pPr>
            <a:r>
              <a:rPr lang="en-US" sz="1250" b="1" dirty="0">
                <a:solidFill>
                  <a:srgbClr val="475569"/>
                </a:solidFill>
              </a:rPr>
              <a:t>Interpret with caution: these are enriched candidate regulators, not measured miRNA expression changes.</a:t>
            </a:r>
            <a:endParaRPr lang="en-US" sz="1250" dirty="0"/>
          </a:p>
        </p:txBody>
      </p:sp>
      <p:sp>
        <p:nvSpPr>
          <p:cNvPr id="14" name="Text 10"/>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15" name="Text 11"/>
          <p:cNvSpPr/>
          <p:nvPr/>
        </p:nvSpPr>
        <p:spPr>
          <a:xfrm>
            <a:off x="11201400" y="6473952"/>
            <a:ext cx="411480" cy="219456"/>
          </a:xfrm>
          <a:prstGeom prst="rect">
            <a:avLst/>
          </a:prstGeom>
          <a:noFill/>
          <a:ln/>
        </p:spPr>
        <p:txBody>
          <a:bodyPr wrap="square" lIns="0" tIns="0" rIns="0" bIns="0" rtlCol="0" anchor="ctr"/>
          <a:lstStyle/>
          <a:p>
            <a:pPr algn="r" indent="0" marL="0">
              <a:buNone/>
            </a:pPr>
            <a:r>
              <a:rPr lang="en-US" sz="850" dirty="0">
                <a:solidFill>
                  <a:srgbClr val="64748B"/>
                </a:solidFill>
              </a:rPr>
              <a:t>10</a:t>
            </a:r>
            <a:endParaRPr lang="en-US" sz="85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4754880" cy="320040"/>
          </a:xfrm>
          <a:prstGeom prst="rect">
            <a:avLst/>
          </a:prstGeom>
          <a:noFill/>
        </p:spPr>
        <p:txBody>
          <a:bodyPr wrap="square" lIns="45720" rIns="45720">
            <a:spAutoFit/>
          </a:bodyPr>
          <a:lstStyle/>
          <a:p>
            <a:pPr algn="l"/>
            <a:r>
              <a:rPr sz="1400" b="1">
                <a:solidFill>
                  <a:srgbClr val="2563EB"/>
                </a:solidFill>
                <a:latin typeface="Aptos"/>
              </a:rPr>
              <a:t>Additional analysis</a:t>
            </a:r>
          </a:p>
        </p:txBody>
      </p:sp>
      <p:sp>
        <p:nvSpPr>
          <p:cNvPr id="3" name="TextBox 2"/>
          <p:cNvSpPr txBox="1"/>
          <p:nvPr/>
        </p:nvSpPr>
        <p:spPr>
          <a:xfrm>
            <a:off x="594360" y="621792"/>
            <a:ext cx="10241280" cy="475488"/>
          </a:xfrm>
          <a:prstGeom prst="rect">
            <a:avLst/>
          </a:prstGeom>
          <a:noFill/>
        </p:spPr>
        <p:txBody>
          <a:bodyPr wrap="square" lIns="45720" rIns="45720">
            <a:spAutoFit/>
          </a:bodyPr>
          <a:lstStyle/>
          <a:p>
            <a:pPr algn="l"/>
            <a:r>
              <a:rPr sz="2400" b="1">
                <a:solidFill>
                  <a:srgbClr val="0B1F33"/>
                </a:solidFill>
                <a:latin typeface="Aptos Display"/>
              </a:rPr>
              <a:t>Literature-based validation of selected findings</a:t>
            </a:r>
          </a:p>
        </p:txBody>
      </p:sp>
      <p:sp>
        <p:nvSpPr>
          <p:cNvPr id="4" name="Straight Connector 3"/>
          <p:cNvSpPr/>
          <p:nvPr/>
        </p:nvSpPr>
        <p:spPr>
          <a:xfrm>
            <a:off x="594360" y="1143000"/>
            <a:ext cx="10972800" cy="0"/>
          </a:xfrm>
          <a:prstGeom prst="lineInv">
            <a:avLst/>
          </a:prstGeom>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07592"/>
            <a:ext cx="10515600" cy="411480"/>
          </a:xfrm>
          <a:prstGeom prst="rect">
            <a:avLst/>
          </a:prstGeom>
          <a:noFill/>
        </p:spPr>
        <p:txBody>
          <a:bodyPr wrap="square" lIns="45720" rIns="45720">
            <a:spAutoFit/>
          </a:bodyPr>
          <a:lstStyle/>
          <a:p>
            <a:pPr algn="l"/>
            <a:r>
              <a:rPr sz="1500" b="0">
                <a:solidFill>
                  <a:srgbClr val="111827"/>
                </a:solidFill>
                <a:latin typeface="Aptos"/>
              </a:rPr>
              <a:t>Purpose: check whether the main computational findings are biologically plausible according to previous HCC/cancer literature.</a:t>
            </a:r>
          </a:p>
        </p:txBody>
      </p:sp>
      <p:sp>
        <p:nvSpPr>
          <p:cNvPr id="6" name="Rounded Rectangle 5"/>
          <p:cNvSpPr/>
          <p:nvPr/>
        </p:nvSpPr>
        <p:spPr>
          <a:xfrm>
            <a:off x="658368" y="1865376"/>
            <a:ext cx="5074920" cy="1417320"/>
          </a:xfrm>
          <a:prstGeom prst="roundRect">
            <a:avLst/>
          </a:prstGeom>
          <a:solidFill>
            <a:srgbClr val="FDF4FF"/>
          </a:solidFill>
          <a:ln w="12700">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65376"/>
            <a:ext cx="82296" cy="1417320"/>
          </a:xfrm>
          <a:prstGeom prst="rect">
            <a:avLst/>
          </a:prstGeom>
          <a:solidFill>
            <a:srgbClr val="D946EF"/>
          </a:solidFill>
          <a:ln>
            <a:solidFill>
              <a:srgbClr val="D94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75104"/>
            <a:ext cx="4800600" cy="292608"/>
          </a:xfrm>
          <a:prstGeom prst="rect">
            <a:avLst/>
          </a:prstGeom>
          <a:noFill/>
        </p:spPr>
        <p:txBody>
          <a:bodyPr wrap="square" lIns="45720" rIns="45720">
            <a:spAutoFit/>
          </a:bodyPr>
          <a:lstStyle/>
          <a:p>
            <a:pPr algn="l"/>
            <a:r>
              <a:rPr sz="1600" b="1">
                <a:solidFill>
                  <a:srgbClr val="D946EF"/>
                </a:solidFill>
                <a:latin typeface="Aptos"/>
              </a:rPr>
              <a:t>ZIC2: top UP-regulated gene by logFC</a:t>
            </a:r>
          </a:p>
        </p:txBody>
      </p:sp>
      <p:sp>
        <p:nvSpPr>
          <p:cNvPr id="9" name="TextBox 8"/>
          <p:cNvSpPr txBox="1"/>
          <p:nvPr/>
        </p:nvSpPr>
        <p:spPr>
          <a:xfrm>
            <a:off x="841248" y="2340864"/>
            <a:ext cx="4754880" cy="850392"/>
          </a:xfrm>
          <a:prstGeom prst="rect">
            <a:avLst/>
          </a:prstGeom>
          <a:noFill/>
        </p:spPr>
        <p:txBody>
          <a:bodyPr wrap="square" lIns="73152" rIns="73152" tIns="27432" bIns="27432">
            <a:spAutoFit/>
          </a:bodyPr>
          <a:lstStyle/>
          <a:p>
            <a:pPr>
              <a:spcAft>
                <a:spcPts val="400"/>
              </a:spcAft>
              <a:defRPr sz="1250">
                <a:solidFill>
                  <a:srgbClr val="111827"/>
                </a:solidFill>
                <a:latin typeface="Aptos"/>
              </a:defRPr>
            </a:pPr>
            <a:r>
              <a:t>Reported as a prognostic and immune-response marker in liver cancer/HCC.</a:t>
            </a:r>
          </a:p>
          <a:p>
            <a:pPr>
              <a:spcAft>
                <a:spcPts val="400"/>
              </a:spcAft>
              <a:defRPr sz="1250">
                <a:solidFill>
                  <a:srgbClr val="111827"/>
                </a:solidFill>
                <a:latin typeface="Aptos"/>
              </a:defRPr>
            </a:pPr>
            <a:r>
              <a:t>Supports the relevance of the strong tumor-up signal.</a:t>
            </a:r>
          </a:p>
        </p:txBody>
      </p:sp>
      <p:sp>
        <p:nvSpPr>
          <p:cNvPr id="10" name="Rounded Rectangle 9"/>
          <p:cNvSpPr/>
          <p:nvPr/>
        </p:nvSpPr>
        <p:spPr>
          <a:xfrm>
            <a:off x="6199632" y="1865376"/>
            <a:ext cx="5074920" cy="1417320"/>
          </a:xfrm>
          <a:prstGeom prst="roundRect">
            <a:avLst/>
          </a:prstGeom>
          <a:solidFill>
            <a:srgbClr val="ECFEFF"/>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1865376"/>
            <a:ext cx="82296" cy="1417320"/>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975104"/>
            <a:ext cx="4800600" cy="292608"/>
          </a:xfrm>
          <a:prstGeom prst="rect">
            <a:avLst/>
          </a:prstGeom>
          <a:noFill/>
        </p:spPr>
        <p:txBody>
          <a:bodyPr wrap="square" lIns="45720" rIns="45720">
            <a:spAutoFit/>
          </a:bodyPr>
          <a:lstStyle/>
          <a:p>
            <a:pPr algn="l"/>
            <a:r>
              <a:rPr sz="1600" b="1">
                <a:solidFill>
                  <a:srgbClr val="06B6D4"/>
                </a:solidFill>
                <a:latin typeface="Aptos"/>
              </a:rPr>
              <a:t>CLEC1B: top DOWN-regulated gene by logFC</a:t>
            </a:r>
          </a:p>
        </p:txBody>
      </p:sp>
      <p:sp>
        <p:nvSpPr>
          <p:cNvPr id="13" name="TextBox 12"/>
          <p:cNvSpPr txBox="1"/>
          <p:nvPr/>
        </p:nvSpPr>
        <p:spPr>
          <a:xfrm>
            <a:off x="6382512" y="2340864"/>
            <a:ext cx="4754880" cy="850392"/>
          </a:xfrm>
          <a:prstGeom prst="rect">
            <a:avLst/>
          </a:prstGeom>
          <a:noFill/>
        </p:spPr>
        <p:txBody>
          <a:bodyPr wrap="square" lIns="73152" rIns="73152" tIns="27432" bIns="27432">
            <a:spAutoFit/>
          </a:bodyPr>
          <a:lstStyle/>
          <a:p>
            <a:pPr>
              <a:spcAft>
                <a:spcPts val="400"/>
              </a:spcAft>
              <a:defRPr sz="1250">
                <a:solidFill>
                  <a:srgbClr val="111827"/>
                </a:solidFill>
                <a:latin typeface="Aptos"/>
              </a:defRPr>
            </a:pPr>
            <a:r>
              <a:t>Reported as a prognostic biomarker in HCC and associated with immune infiltration.</a:t>
            </a:r>
          </a:p>
          <a:p>
            <a:pPr>
              <a:spcAft>
                <a:spcPts val="400"/>
              </a:spcAft>
              <a:defRPr sz="1250">
                <a:solidFill>
                  <a:srgbClr val="111827"/>
                </a:solidFill>
                <a:latin typeface="Aptos"/>
              </a:defRPr>
            </a:pPr>
            <a:r>
              <a:t>Consistent with its strong reduction in tumor samples.</a:t>
            </a:r>
          </a:p>
        </p:txBody>
      </p:sp>
      <p:sp>
        <p:nvSpPr>
          <p:cNvPr id="14" name="Rounded Rectangle 13"/>
          <p:cNvSpPr/>
          <p:nvPr/>
        </p:nvSpPr>
        <p:spPr>
          <a:xfrm>
            <a:off x="658368" y="3675887"/>
            <a:ext cx="5074920" cy="1417320"/>
          </a:xfrm>
          <a:prstGeom prst="roundRect">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3675887"/>
            <a:ext cx="82296" cy="1417320"/>
          </a:xfrm>
          <a:prstGeom prst="rect">
            <a:avLst/>
          </a:prstGeom>
          <a:solidFill>
            <a:srgbClr val="16A34A"/>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85615"/>
            <a:ext cx="4800600" cy="292608"/>
          </a:xfrm>
          <a:prstGeom prst="rect">
            <a:avLst/>
          </a:prstGeom>
          <a:noFill/>
        </p:spPr>
        <p:txBody>
          <a:bodyPr wrap="square" lIns="45720" rIns="45720">
            <a:spAutoFit/>
          </a:bodyPr>
          <a:lstStyle/>
          <a:p>
            <a:pPr algn="l"/>
            <a:r>
              <a:rPr sz="1600" b="1">
                <a:solidFill>
                  <a:srgbClr val="16A34A"/>
                </a:solidFill>
                <a:latin typeface="Aptos"/>
              </a:rPr>
              <a:t>CYP450 / drug metabolism loss</a:t>
            </a:r>
          </a:p>
        </p:txBody>
      </p:sp>
      <p:sp>
        <p:nvSpPr>
          <p:cNvPr id="17" name="TextBox 16"/>
          <p:cNvSpPr txBox="1"/>
          <p:nvPr/>
        </p:nvSpPr>
        <p:spPr>
          <a:xfrm>
            <a:off x="841248" y="4151375"/>
            <a:ext cx="4754880" cy="850392"/>
          </a:xfrm>
          <a:prstGeom prst="rect">
            <a:avLst/>
          </a:prstGeom>
          <a:noFill/>
        </p:spPr>
        <p:txBody>
          <a:bodyPr wrap="square" lIns="73152" rIns="73152" tIns="27432" bIns="27432">
            <a:spAutoFit/>
          </a:bodyPr>
          <a:lstStyle/>
          <a:p>
            <a:pPr>
              <a:spcAft>
                <a:spcPts val="400"/>
              </a:spcAft>
              <a:defRPr sz="1250">
                <a:solidFill>
                  <a:srgbClr val="111827"/>
                </a:solidFill>
                <a:latin typeface="Aptos"/>
              </a:defRPr>
            </a:pPr>
            <a:r>
              <a:t>HCC literature reports down-regulation/deregulation of xenobiotic-metabolizing CYP genes.</a:t>
            </a:r>
          </a:p>
          <a:p>
            <a:pPr>
              <a:spcAft>
                <a:spcPts val="400"/>
              </a:spcAft>
              <a:defRPr sz="1250">
                <a:solidFill>
                  <a:srgbClr val="111827"/>
                </a:solidFill>
                <a:latin typeface="Aptos"/>
              </a:defRPr>
            </a:pPr>
            <a:r>
              <a:t>Supports loss of normal hepatocyte detoxification function.</a:t>
            </a:r>
          </a:p>
        </p:txBody>
      </p:sp>
      <p:sp>
        <p:nvSpPr>
          <p:cNvPr id="18" name="Rounded Rectangle 17"/>
          <p:cNvSpPr/>
          <p:nvPr/>
        </p:nvSpPr>
        <p:spPr>
          <a:xfrm>
            <a:off x="6199632" y="3675887"/>
            <a:ext cx="5074920" cy="1417320"/>
          </a:xfrm>
          <a:prstGeom prst="roundRect">
            <a:avLst/>
          </a:prstGeom>
          <a:solidFill>
            <a:srgbClr val="FFFBE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3675887"/>
            <a:ext cx="82296" cy="141732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4224" y="3785615"/>
            <a:ext cx="4800600" cy="292608"/>
          </a:xfrm>
          <a:prstGeom prst="rect">
            <a:avLst/>
          </a:prstGeom>
          <a:noFill/>
        </p:spPr>
        <p:txBody>
          <a:bodyPr wrap="square" lIns="45720" rIns="45720">
            <a:spAutoFit/>
          </a:bodyPr>
          <a:lstStyle/>
          <a:p>
            <a:pPr algn="l"/>
            <a:r>
              <a:rPr sz="1600" b="1">
                <a:solidFill>
                  <a:srgbClr val="F59E0B"/>
                </a:solidFill>
                <a:latin typeface="Aptos"/>
              </a:rPr>
              <a:t>miRNA-target findings</a:t>
            </a:r>
          </a:p>
        </p:txBody>
      </p:sp>
      <p:sp>
        <p:nvSpPr>
          <p:cNvPr id="21" name="TextBox 20"/>
          <p:cNvSpPr txBox="1"/>
          <p:nvPr/>
        </p:nvSpPr>
        <p:spPr>
          <a:xfrm>
            <a:off x="6382512" y="4151375"/>
            <a:ext cx="4754880" cy="850392"/>
          </a:xfrm>
          <a:prstGeom prst="rect">
            <a:avLst/>
          </a:prstGeom>
          <a:noFill/>
        </p:spPr>
        <p:txBody>
          <a:bodyPr wrap="square" lIns="73152" rIns="73152" tIns="27432" bIns="27432">
            <a:spAutoFit/>
          </a:bodyPr>
          <a:lstStyle/>
          <a:p>
            <a:pPr>
              <a:spcAft>
                <a:spcPts val="400"/>
              </a:spcAft>
              <a:defRPr sz="1250">
                <a:solidFill>
                  <a:srgbClr val="111827"/>
                </a:solidFill>
                <a:latin typeface="Aptos"/>
              </a:defRPr>
            </a:pPr>
            <a:r>
              <a:t>miR-146a: immune/inflammatory and TLR/NF-kB-related signaling.</a:t>
            </a:r>
          </a:p>
          <a:p>
            <a:pPr>
              <a:spcAft>
                <a:spcPts val="400"/>
              </a:spcAft>
              <a:defRPr sz="1250">
                <a:solidFill>
                  <a:srgbClr val="111827"/>
                </a:solidFill>
                <a:latin typeface="Aptos"/>
              </a:defRPr>
            </a:pPr>
            <a:r>
              <a:t>miR-34a: p53-related miRNA linked to cell-cycle arrest, DNA-damage response, and apoptosis.</a:t>
            </a:r>
          </a:p>
        </p:txBody>
      </p:sp>
      <p:sp>
        <p:nvSpPr>
          <p:cNvPr id="22" name="TextBox 21"/>
          <p:cNvSpPr txBox="1"/>
          <p:nvPr/>
        </p:nvSpPr>
        <p:spPr>
          <a:xfrm>
            <a:off x="777240" y="5330952"/>
            <a:ext cx="9966960" cy="292608"/>
          </a:xfrm>
          <a:prstGeom prst="rect">
            <a:avLst/>
          </a:prstGeom>
          <a:noFill/>
        </p:spPr>
        <p:txBody>
          <a:bodyPr wrap="square" lIns="45720" rIns="45720">
            <a:spAutoFit/>
          </a:bodyPr>
          <a:lstStyle/>
          <a:p>
            <a:pPr algn="l"/>
            <a:r>
              <a:rPr sz="1400" b="1">
                <a:solidFill>
                  <a:srgbClr val="0B1F33"/>
                </a:solidFill>
                <a:latin typeface="Aptos"/>
              </a:rPr>
              <a:t>Conclusion: findings are consistent with published HCC/cancer biology, but remain hypothesis-generating.</a:t>
            </a:r>
          </a:p>
        </p:txBody>
      </p:sp>
      <p:sp>
        <p:nvSpPr>
          <p:cNvPr id="23" name="TextBox 22"/>
          <p:cNvSpPr txBox="1"/>
          <p:nvPr/>
        </p:nvSpPr>
        <p:spPr>
          <a:xfrm>
            <a:off x="658368" y="5760720"/>
            <a:ext cx="9601200" cy="320040"/>
          </a:xfrm>
          <a:prstGeom prst="rect">
            <a:avLst/>
          </a:prstGeom>
          <a:noFill/>
        </p:spPr>
        <p:txBody>
          <a:bodyPr wrap="square" lIns="45720" rIns="45720">
            <a:spAutoFit/>
          </a:bodyPr>
          <a:lstStyle/>
          <a:p>
            <a:pPr algn="l"/>
            <a:r>
              <a:rPr sz="950" b="0">
                <a:solidFill>
                  <a:srgbClr val="64748B"/>
                </a:solidFill>
                <a:latin typeface="Aptos"/>
              </a:rPr>
              <a:t>Selected examples: Sun et al. 2021; Liang et al. 2022; Nekvindova et al. 2020; Fu et al. 2023.</a:t>
            </a:r>
          </a:p>
        </p:txBody>
      </p:sp>
      <p:sp>
        <p:nvSpPr>
          <p:cNvPr id="24" name="TextBox 23"/>
          <p:cNvSpPr txBox="1"/>
          <p:nvPr/>
        </p:nvSpPr>
        <p:spPr>
          <a:xfrm>
            <a:off x="594360" y="6510528"/>
            <a:ext cx="7955279" cy="228600"/>
          </a:xfrm>
          <a:prstGeom prst="rect">
            <a:avLst/>
          </a:prstGeom>
          <a:noFill/>
        </p:spPr>
        <p:txBody>
          <a:bodyPr wrap="square" lIns="45720" rIns="45720">
            <a:spAutoFit/>
          </a:bodyPr>
          <a:lstStyle/>
          <a:p>
            <a:pPr algn="l"/>
            <a:r>
              <a:rPr sz="950" b="0">
                <a:solidFill>
                  <a:srgbClr val="64748B"/>
                </a:solidFill>
                <a:latin typeface="Aptos"/>
              </a:rPr>
              <a:t>Gene expression data analysis • HCC tumor vs adjacent non-tumor liver</a:t>
            </a:r>
          </a:p>
        </p:txBody>
      </p:sp>
      <p:sp>
        <p:nvSpPr>
          <p:cNvPr id="25" name="TextBox 24"/>
          <p:cNvSpPr txBox="1"/>
          <p:nvPr/>
        </p:nvSpPr>
        <p:spPr>
          <a:xfrm>
            <a:off x="11201400" y="6473952"/>
            <a:ext cx="411480" cy="228600"/>
          </a:xfrm>
          <a:prstGeom prst="rect">
            <a:avLst/>
          </a:prstGeom>
          <a:noFill/>
        </p:spPr>
        <p:txBody>
          <a:bodyPr wrap="square" lIns="45720" rIns="45720">
            <a:spAutoFit/>
          </a:bodyPr>
          <a:lstStyle/>
          <a:p>
            <a:pPr algn="r"/>
            <a:r>
              <a:rPr sz="1050" b="0">
                <a:solidFill>
                  <a:srgbClr val="64748B"/>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Synthesis</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Integrated biological interpretation</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txBody>
          <a:bodyPr/>
          <a:p/>
        </p:txBody>
      </p:sp>
      <p:sp>
        <p:nvSpPr>
          <p:cNvPr id="5" name="Shape 3"/>
          <p:cNvSpPr/>
          <p:nvPr/>
        </p:nvSpPr>
        <p:spPr>
          <a:xfrm>
            <a:off x="822960" y="1600200"/>
            <a:ext cx="3063240" cy="2834640"/>
          </a:xfrm>
          <a:prstGeom prst="roundRect">
            <a:avLst>
              <a:gd name="adj" fmla="val 3871"/>
            </a:avLst>
          </a:prstGeom>
          <a:solidFill>
            <a:srgbClr val="D946EF">
              <a:alpha val="13000"/>
            </a:srgbClr>
          </a:solidFill>
          <a:ln w="12700">
            <a:solidFill>
              <a:srgbClr val="D946EF"/>
            </a:solidFill>
            <a:prstDash val="solid"/>
          </a:ln>
        </p:spPr>
        <p:txBody>
          <a:bodyPr/>
          <a:p/>
        </p:txBody>
      </p:sp>
      <p:sp>
        <p:nvSpPr>
          <p:cNvPr id="6" name="Text 4"/>
          <p:cNvSpPr/>
          <p:nvPr/>
        </p:nvSpPr>
        <p:spPr>
          <a:xfrm>
            <a:off x="1051560" y="1874520"/>
            <a:ext cx="2606040" cy="301752"/>
          </a:xfrm>
          <a:prstGeom prst="rect">
            <a:avLst/>
          </a:prstGeom>
          <a:noFill/>
          <a:ln/>
        </p:spPr>
        <p:txBody>
          <a:bodyPr wrap="square" lIns="0" tIns="0" rIns="0" bIns="0" rtlCol="0" anchor="ctr"/>
          <a:lstStyle/>
          <a:p>
            <a:pPr algn="ctr" indent="0" marL="0">
              <a:buNone/>
            </a:pPr>
            <a:r>
              <a:rPr lang="en-US" sz="1800" b="1" dirty="0">
                <a:solidFill>
                  <a:srgbClr val="D946EF"/>
                </a:solidFill>
              </a:rPr>
              <a:t>UP in tumor</a:t>
            </a:r>
            <a:endParaRPr lang="en-US" sz="1800" dirty="0"/>
          </a:p>
        </p:txBody>
      </p:sp>
      <p:sp>
        <p:nvSpPr>
          <p:cNvPr id="7" name="Text 5"/>
          <p:cNvSpPr/>
          <p:nvPr/>
        </p:nvSpPr>
        <p:spPr>
          <a:xfrm>
            <a:off x="1143000" y="2423160"/>
            <a:ext cx="2423160" cy="1280160"/>
          </a:xfrm>
          <a:prstGeom prst="rect">
            <a:avLst/>
          </a:prstGeom>
          <a:noFill/>
          <a:ln/>
        </p:spPr>
        <p:txBody>
          <a:bodyPr wrap="square" lIns="254" tIns="254" rIns="254" bIns="254" rtlCol="0" anchor="ctr">
            <a:normAutofit/>
          </a:bodyPr>
          <a:lstStyle/>
          <a:p>
            <a:pPr algn="ctr" indent="0" marL="0">
              <a:buNone/>
            </a:pPr>
            <a:r>
              <a:rPr lang="en-US" sz="1700" dirty="0">
                <a:solidFill>
                  <a:srgbClr val="111827"/>
                </a:solidFill>
              </a:rPr>
              <a:t>Cell cycle</a:t>
            </a:r>
            <a:endParaRPr lang="en-US" sz="1700" dirty="0"/>
          </a:p>
          <a:p>
            <a:pPr algn="ctr" indent="0" marL="0">
              <a:buNone/>
            </a:pPr>
            <a:r>
              <a:rPr lang="en-US" sz="1700" dirty="0">
                <a:solidFill>
                  <a:srgbClr val="111827"/>
                </a:solidFill>
              </a:rPr>
              <a:t>DNA replication</a:t>
            </a:r>
            <a:endParaRPr lang="en-US" sz="1700" dirty="0"/>
          </a:p>
          <a:p>
            <a:pPr algn="ctr" indent="0" marL="0">
              <a:buNone/>
            </a:pPr>
            <a:r>
              <a:rPr lang="en-US" sz="1700" dirty="0">
                <a:solidFill>
                  <a:srgbClr val="111827"/>
                </a:solidFill>
              </a:rPr>
              <a:t>Mitosis</a:t>
            </a:r>
            <a:endParaRPr lang="en-US" sz="1700" dirty="0"/>
          </a:p>
          <a:p>
            <a:pPr algn="ctr" indent="0" marL="0">
              <a:buNone/>
            </a:pPr>
            <a:r>
              <a:rPr lang="en-US" sz="1700" dirty="0">
                <a:solidFill>
                  <a:srgbClr val="111827"/>
                </a:solidFill>
              </a:rPr>
              <a:t>Checkpoint control</a:t>
            </a:r>
            <a:endParaRPr lang="en-US" sz="1700" dirty="0"/>
          </a:p>
        </p:txBody>
      </p:sp>
      <p:sp>
        <p:nvSpPr>
          <p:cNvPr id="8" name="Shape 6"/>
          <p:cNvSpPr/>
          <p:nvPr/>
        </p:nvSpPr>
        <p:spPr>
          <a:xfrm>
            <a:off x="4005072" y="3017520"/>
            <a:ext cx="502920" cy="0"/>
          </a:xfrm>
          <a:prstGeom prst="line">
            <a:avLst/>
          </a:prstGeom>
          <a:noFill/>
          <a:ln w="12700">
            <a:solidFill>
              <a:srgbClr val="CBD5E1"/>
            </a:solidFill>
            <a:prstDash val="solid"/>
            <a:tailEnd type="triangle"/>
          </a:ln>
        </p:spPr>
        <p:txBody>
          <a:bodyPr/>
          <a:p/>
        </p:txBody>
      </p:sp>
      <p:sp>
        <p:nvSpPr>
          <p:cNvPr id="9" name="Shape 7"/>
          <p:cNvSpPr/>
          <p:nvPr/>
        </p:nvSpPr>
        <p:spPr>
          <a:xfrm>
            <a:off x="4572000" y="1600200"/>
            <a:ext cx="3063240" cy="2834640"/>
          </a:xfrm>
          <a:prstGeom prst="roundRect">
            <a:avLst>
              <a:gd name="adj" fmla="val 3871"/>
            </a:avLst>
          </a:prstGeom>
          <a:solidFill>
            <a:srgbClr val="06B6D4">
              <a:alpha val="13000"/>
            </a:srgbClr>
          </a:solidFill>
          <a:ln w="12700">
            <a:solidFill>
              <a:srgbClr val="06B6D4"/>
            </a:solidFill>
            <a:prstDash val="solid"/>
          </a:ln>
        </p:spPr>
        <p:txBody>
          <a:bodyPr/>
          <a:p/>
        </p:txBody>
      </p:sp>
      <p:sp>
        <p:nvSpPr>
          <p:cNvPr id="10" name="Text 8"/>
          <p:cNvSpPr/>
          <p:nvPr/>
        </p:nvSpPr>
        <p:spPr>
          <a:xfrm>
            <a:off x="4800600" y="1874520"/>
            <a:ext cx="2606040" cy="301752"/>
          </a:xfrm>
          <a:prstGeom prst="rect">
            <a:avLst/>
          </a:prstGeom>
          <a:noFill/>
          <a:ln/>
        </p:spPr>
        <p:txBody>
          <a:bodyPr wrap="square" lIns="0" tIns="0" rIns="0" bIns="0" rtlCol="0" anchor="ctr"/>
          <a:lstStyle/>
          <a:p>
            <a:pPr algn="ctr" indent="0" marL="0">
              <a:buNone/>
            </a:pPr>
            <a:r>
              <a:rPr lang="en-US" sz="1800" b="1" dirty="0">
                <a:solidFill>
                  <a:srgbClr val="06B6D4"/>
                </a:solidFill>
              </a:rPr>
              <a:t>DOWN in tumor</a:t>
            </a:r>
            <a:endParaRPr lang="en-US" sz="1800" dirty="0"/>
          </a:p>
        </p:txBody>
      </p:sp>
      <p:sp>
        <p:nvSpPr>
          <p:cNvPr id="11" name="Text 9"/>
          <p:cNvSpPr/>
          <p:nvPr/>
        </p:nvSpPr>
        <p:spPr>
          <a:xfrm>
            <a:off x="4892040" y="2423160"/>
            <a:ext cx="2423160" cy="1280160"/>
          </a:xfrm>
          <a:prstGeom prst="rect">
            <a:avLst/>
          </a:prstGeom>
          <a:noFill/>
          <a:ln/>
        </p:spPr>
        <p:txBody>
          <a:bodyPr wrap="square" lIns="254" tIns="254" rIns="254" bIns="254" rtlCol="0" anchor="ctr">
            <a:normAutofit/>
          </a:bodyPr>
          <a:lstStyle/>
          <a:p>
            <a:pPr algn="ctr" indent="0" marL="0">
              <a:buNone/>
            </a:pPr>
            <a:r>
              <a:rPr lang="en-US" sz="1700" dirty="0">
                <a:solidFill>
                  <a:srgbClr val="111827"/>
                </a:solidFill>
              </a:rPr>
              <a:t>P450 metabolism</a:t>
            </a:r>
            <a:endParaRPr lang="en-US" sz="1700" dirty="0"/>
          </a:p>
          <a:p>
            <a:pPr algn="ctr" indent="0" marL="0">
              <a:buNone/>
            </a:pPr>
            <a:r>
              <a:rPr lang="en-US" sz="1700" dirty="0">
                <a:solidFill>
                  <a:srgbClr val="111827"/>
                </a:solidFill>
              </a:rPr>
              <a:t>Drug/xenobiotic metabolism</a:t>
            </a:r>
            <a:endParaRPr lang="en-US" sz="1700" dirty="0"/>
          </a:p>
          <a:p>
            <a:pPr algn="ctr" indent="0" marL="0">
              <a:buNone/>
            </a:pPr>
            <a:r>
              <a:rPr lang="en-US" sz="1700" dirty="0">
                <a:solidFill>
                  <a:srgbClr val="111827"/>
                </a:solidFill>
              </a:rPr>
              <a:t>Retinol and bile pathways</a:t>
            </a:r>
            <a:endParaRPr lang="en-US" sz="1700" dirty="0"/>
          </a:p>
        </p:txBody>
      </p:sp>
      <p:sp>
        <p:nvSpPr>
          <p:cNvPr id="12" name="Shape 10"/>
          <p:cNvSpPr/>
          <p:nvPr/>
        </p:nvSpPr>
        <p:spPr>
          <a:xfrm>
            <a:off x="7754112" y="3017520"/>
            <a:ext cx="502920" cy="0"/>
          </a:xfrm>
          <a:prstGeom prst="line">
            <a:avLst/>
          </a:prstGeom>
          <a:noFill/>
          <a:ln w="12700">
            <a:solidFill>
              <a:srgbClr val="CBD5E1"/>
            </a:solidFill>
            <a:prstDash val="solid"/>
            <a:tailEnd type="triangle"/>
          </a:ln>
        </p:spPr>
        <p:txBody>
          <a:bodyPr/>
          <a:p/>
        </p:txBody>
      </p:sp>
      <p:sp>
        <p:nvSpPr>
          <p:cNvPr id="13" name="Shape 11"/>
          <p:cNvSpPr/>
          <p:nvPr/>
        </p:nvSpPr>
        <p:spPr>
          <a:xfrm>
            <a:off x="8321040" y="1600200"/>
            <a:ext cx="3063240" cy="2834640"/>
          </a:xfrm>
          <a:prstGeom prst="roundRect">
            <a:avLst>
              <a:gd name="adj" fmla="val 3871"/>
            </a:avLst>
          </a:prstGeom>
          <a:solidFill>
            <a:srgbClr val="F97316">
              <a:alpha val="13000"/>
            </a:srgbClr>
          </a:solidFill>
          <a:ln w="12700">
            <a:solidFill>
              <a:srgbClr val="F97316"/>
            </a:solidFill>
            <a:prstDash val="solid"/>
          </a:ln>
        </p:spPr>
        <p:txBody>
          <a:bodyPr/>
          <a:p/>
        </p:txBody>
      </p:sp>
      <p:sp>
        <p:nvSpPr>
          <p:cNvPr id="14" name="Text 12"/>
          <p:cNvSpPr/>
          <p:nvPr/>
        </p:nvSpPr>
        <p:spPr>
          <a:xfrm>
            <a:off x="8549640" y="1874520"/>
            <a:ext cx="2606040" cy="301752"/>
          </a:xfrm>
          <a:prstGeom prst="rect">
            <a:avLst/>
          </a:prstGeom>
          <a:noFill/>
          <a:ln/>
        </p:spPr>
        <p:txBody>
          <a:bodyPr wrap="square" lIns="0" tIns="0" rIns="0" bIns="0" rtlCol="0" anchor="ctr"/>
          <a:lstStyle/>
          <a:p>
            <a:pPr algn="ctr" indent="0" marL="0">
              <a:buNone/>
            </a:pPr>
            <a:r>
              <a:rPr lang="en-US" sz="1800" b="1" dirty="0">
                <a:solidFill>
                  <a:srgbClr val="F97316"/>
                </a:solidFill>
              </a:rPr>
              <a:t>Regulatory layer</a:t>
            </a:r>
            <a:endParaRPr lang="en-US" sz="1800" dirty="0"/>
          </a:p>
        </p:txBody>
      </p:sp>
      <p:sp>
        <p:nvSpPr>
          <p:cNvPr id="15" name="Text 13"/>
          <p:cNvSpPr/>
          <p:nvPr/>
        </p:nvSpPr>
        <p:spPr>
          <a:xfrm>
            <a:off x="8641080" y="2423160"/>
            <a:ext cx="2423160" cy="1280160"/>
          </a:xfrm>
          <a:prstGeom prst="rect">
            <a:avLst/>
          </a:prstGeom>
          <a:noFill/>
          <a:ln/>
        </p:spPr>
        <p:txBody>
          <a:bodyPr wrap="square" lIns="254" tIns="254" rIns="254" bIns="254" rtlCol="0" anchor="ctr">
            <a:normAutofit/>
          </a:bodyPr>
          <a:lstStyle/>
          <a:p>
            <a:pPr algn="ctr" indent="0" marL="0">
              <a:buNone/>
            </a:pPr>
            <a:r>
              <a:rPr lang="en-US" sz="1700" dirty="0">
                <a:solidFill>
                  <a:srgbClr val="111827"/>
                </a:solidFill>
              </a:rPr>
              <a:t>miRNA-target modules</a:t>
            </a:r>
            <a:endParaRPr lang="en-US" sz="1700" dirty="0"/>
          </a:p>
          <a:p>
            <a:pPr algn="ctr" indent="0" marL="0">
              <a:buNone/>
            </a:pPr>
            <a:r>
              <a:rPr lang="en-US" sz="1700" dirty="0">
                <a:solidFill>
                  <a:srgbClr val="111827"/>
                </a:solidFill>
              </a:rPr>
              <a:t>Cancer and immune signaling</a:t>
            </a:r>
            <a:endParaRPr lang="en-US" sz="1700" dirty="0"/>
          </a:p>
          <a:p>
            <a:pPr algn="ctr" indent="0" marL="0">
              <a:buNone/>
            </a:pPr>
            <a:r>
              <a:rPr lang="en-US" sz="1700" dirty="0">
                <a:solidFill>
                  <a:srgbClr val="111827"/>
                </a:solidFill>
              </a:rPr>
              <a:t>Candidate post-transcriptional control</a:t>
            </a:r>
            <a:endParaRPr lang="en-US" sz="1700" dirty="0"/>
          </a:p>
        </p:txBody>
      </p:sp>
      <p:sp>
        <p:nvSpPr>
          <p:cNvPr id="16" name="Text 14"/>
          <p:cNvSpPr/>
          <p:nvPr/>
        </p:nvSpPr>
        <p:spPr>
          <a:xfrm>
            <a:off x="1097280" y="4983480"/>
            <a:ext cx="2103120" cy="256032"/>
          </a:xfrm>
          <a:prstGeom prst="rect">
            <a:avLst/>
          </a:prstGeom>
          <a:noFill/>
          <a:ln/>
        </p:spPr>
        <p:txBody>
          <a:bodyPr wrap="square" lIns="0" tIns="0" rIns="0" bIns="0" rtlCol="0" anchor="ctr"/>
          <a:lstStyle/>
          <a:p>
            <a:pPr indent="0" marL="0">
              <a:buNone/>
            </a:pPr>
            <a:r>
              <a:rPr lang="en-US" sz="1800" b="1" dirty="0">
                <a:solidFill>
                  <a:srgbClr val="0B1F33"/>
                </a:solidFill>
              </a:rPr>
              <a:t>Overall conclusion</a:t>
            </a:r>
            <a:endParaRPr lang="en-US" sz="1800" dirty="0"/>
          </a:p>
        </p:txBody>
      </p:sp>
      <p:sp>
        <p:nvSpPr>
          <p:cNvPr id="17" name="Text 15"/>
          <p:cNvSpPr/>
          <p:nvPr/>
        </p:nvSpPr>
        <p:spPr>
          <a:xfrm>
            <a:off x="1097280" y="5321808"/>
            <a:ext cx="9875520" cy="713232"/>
          </a:xfrm>
          <a:prstGeom prst="rect">
            <a:avLst/>
          </a:prstGeom>
          <a:noFill/>
          <a:ln/>
        </p:spPr>
        <p:txBody>
          <a:bodyPr wrap="square" lIns="381" tIns="381" rIns="381" bIns="381" rtlCol="0" anchor="ctr">
            <a:normAutofit/>
          </a:bodyPr>
          <a:lstStyle/>
          <a:p>
            <a:pPr algn="ctr" indent="0" marL="0">
              <a:buNone/>
            </a:pPr>
            <a:r>
              <a:rPr lang="en-US" sz="2000" b="1" dirty="0">
                <a:solidFill>
                  <a:srgbClr val="111827"/>
                </a:solidFill>
              </a:rPr>
              <a:t>HCC tumor tissue is characterized by activation of proliferative cell-cycle programs and reduced expression of normal liver metabolic/detoxification functions, with additional immune and miRNA-target regulatory signals.</a:t>
            </a:r>
            <a:endParaRPr lang="en-US" sz="2000" dirty="0"/>
          </a:p>
        </p:txBody>
      </p:sp>
      <p:sp>
        <p:nvSpPr>
          <p:cNvPr id="18" name="Text 16"/>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19" name="Text 17"/>
          <p:cNvSpPr/>
          <p:nvPr/>
        </p:nvSpPr>
        <p:spPr>
          <a:xfrm>
            <a:off x="11201400" y="6473952"/>
            <a:ext cx="411480" cy="219456"/>
          </a:xfrm>
          <a:prstGeom prst="rect">
            <a:avLst/>
          </a:prstGeom>
          <a:noFill/>
          <a:ln/>
        </p:spPr>
        <p:txBody>
          <a:bodyPr wrap="square" lIns="0" tIns="0" rIns="0" bIns="0" rtlCol="0" anchor="ctr"/>
          <a:lstStyle/>
          <a:p>
            <a:r>
              <a:rPr sz="1050">
                <a:solidFill>
                  <a:srgbClr val="64748B"/>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47472"/>
            <a:ext cx="4754880" cy="256032"/>
          </a:xfrm>
          <a:prstGeom prst="rect">
            <a:avLst/>
          </a:prstGeom>
          <a:noFill/>
          <a:ln/>
        </p:spPr>
        <p:txBody>
          <a:bodyPr wrap="square" lIns="0" tIns="0" rIns="0" bIns="0" rtlCol="0" anchor="ctr"/>
          <a:lstStyle/>
          <a:p>
            <a:pPr indent="0" marL="0">
              <a:buNone/>
            </a:pPr>
            <a:r>
              <a:rPr lang="en-US" sz="950" b="1" dirty="0">
                <a:solidFill>
                  <a:srgbClr val="2563EB"/>
                </a:solidFill>
                <a:latin typeface="Aptos" pitchFamily="34" charset="0"/>
                <a:ea typeface="Aptos" pitchFamily="34" charset="-122"/>
                <a:cs typeface="Aptos" pitchFamily="34" charset="-120"/>
              </a:rPr>
              <a:t>Final takeaways</a:t>
            </a:r>
            <a:endParaRPr lang="en-US" sz="950" dirty="0"/>
          </a:p>
        </p:txBody>
      </p:sp>
      <p:sp>
        <p:nvSpPr>
          <p:cNvPr id="3" name="Text 1"/>
          <p:cNvSpPr/>
          <p:nvPr/>
        </p:nvSpPr>
        <p:spPr>
          <a:xfrm>
            <a:off x="594360" y="621792"/>
            <a:ext cx="10972800" cy="475488"/>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Conclusions and limits</a:t>
            </a:r>
            <a:endParaRPr lang="en-US" sz="2900" dirty="0"/>
          </a:p>
        </p:txBody>
      </p:sp>
      <p:sp>
        <p:nvSpPr>
          <p:cNvPr id="4" name="Shape 2"/>
          <p:cNvSpPr/>
          <p:nvPr/>
        </p:nvSpPr>
        <p:spPr>
          <a:xfrm>
            <a:off x="594360" y="1170432"/>
            <a:ext cx="10991088" cy="0"/>
          </a:xfrm>
          <a:prstGeom prst="line">
            <a:avLst/>
          </a:prstGeom>
          <a:noFill/>
          <a:ln w="12700">
            <a:solidFill>
              <a:srgbClr val="CBD5E1"/>
            </a:solidFill>
            <a:prstDash val="solid"/>
          </a:ln>
        </p:spPr>
        <p:txBody>
          <a:bodyPr/>
          <a:p/>
        </p:txBody>
      </p:sp>
      <p:sp>
        <p:nvSpPr>
          <p:cNvPr id="5" name="Text 3"/>
          <p:cNvSpPr/>
          <p:nvPr/>
        </p:nvSpPr>
        <p:spPr>
          <a:xfrm>
            <a:off x="777240" y="1481328"/>
            <a:ext cx="2743200" cy="274320"/>
          </a:xfrm>
          <a:prstGeom prst="rect">
            <a:avLst/>
          </a:prstGeom>
          <a:noFill/>
          <a:ln/>
        </p:spPr>
        <p:txBody>
          <a:bodyPr wrap="square" lIns="0" tIns="0" rIns="0" bIns="0" rtlCol="0" anchor="ctr"/>
          <a:lstStyle/>
          <a:p>
            <a:pPr indent="0" marL="0">
              <a:buNone/>
            </a:pPr>
            <a:r>
              <a:rPr lang="en-US" sz="2000" b="1" dirty="0">
                <a:solidFill>
                  <a:srgbClr val="0B1F33"/>
                </a:solidFill>
              </a:rPr>
              <a:t>Main conclusions</a:t>
            </a:r>
            <a:endParaRPr lang="en-US" sz="2000" dirty="0"/>
          </a:p>
        </p:txBody>
      </p:sp>
      <p:sp>
        <p:nvSpPr>
          <p:cNvPr id="6" name="Text 4"/>
          <p:cNvSpPr/>
          <p:nvPr/>
        </p:nvSpPr>
        <p:spPr>
          <a:xfrm>
            <a:off x="777240" y="1874520"/>
            <a:ext cx="5852160" cy="1874520"/>
          </a:xfrm>
          <a:prstGeom prst="rect">
            <a:avLst/>
          </a:prstGeom>
          <a:noFill/>
          <a:ln/>
        </p:spPr>
        <p:txBody>
          <a:bodyPr wrap="square" lIns="381" tIns="381" rIns="381" bIns="381" rtlCol="0" anchor="ctr">
            <a:normAutofit/>
          </a:bodyPr>
          <a:lstStyle/>
          <a:p>
            <a:pPr marL="177800" indent="-177800">
              <a:buSzPct val="100000"/>
              <a:buChar char="•"/>
            </a:pPr>
            <a:r>
              <a:rPr lang="en-US" sz="1600" dirty="0">
                <a:solidFill>
                  <a:srgbClr val="111827"/>
                </a:solidFill>
                <a:latin typeface="Aptos" pitchFamily="34" charset="0"/>
                <a:ea typeface="Aptos" pitchFamily="34" charset="-122"/>
                <a:cs typeface="Aptos" pitchFamily="34" charset="-120"/>
              </a:rPr>
              <a:t>1667 DEGs distinguish tumor from adjacent non-tumor liver samples.</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UP-regulated genes point to proliferation, DNA replication, and mitotic checkpoint activity.</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DOWN-regulated genes point to loss of hepatocyte metabolism and detoxification.</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MIENTURNET suggests candidate miRNA regulators of proliferative and immune/inflammatory modules.</a:t>
            </a:r>
            <a:endParaRPr lang="en-US" sz="1600" dirty="0"/>
          </a:p>
        </p:txBody>
      </p:sp>
      <p:sp>
        <p:nvSpPr>
          <p:cNvPr id="7" name="Text 5"/>
          <p:cNvSpPr/>
          <p:nvPr/>
        </p:nvSpPr>
        <p:spPr>
          <a:xfrm>
            <a:off x="7086600" y="1481328"/>
            <a:ext cx="2377440" cy="274320"/>
          </a:xfrm>
          <a:prstGeom prst="rect">
            <a:avLst/>
          </a:prstGeom>
          <a:noFill/>
          <a:ln/>
        </p:spPr>
        <p:txBody>
          <a:bodyPr wrap="square" lIns="0" tIns="0" rIns="0" bIns="0" rtlCol="0" anchor="ctr"/>
          <a:lstStyle/>
          <a:p>
            <a:pPr indent="0" marL="0">
              <a:buNone/>
            </a:pPr>
            <a:r>
              <a:rPr lang="en-US" sz="2000" b="1" dirty="0">
                <a:solidFill>
                  <a:srgbClr val="0B1F33"/>
                </a:solidFill>
              </a:rPr>
              <a:t>Limitations</a:t>
            </a:r>
            <a:endParaRPr lang="en-US" sz="2000" dirty="0"/>
          </a:p>
        </p:txBody>
      </p:sp>
      <p:sp>
        <p:nvSpPr>
          <p:cNvPr id="8" name="Text 6"/>
          <p:cNvSpPr/>
          <p:nvPr/>
        </p:nvSpPr>
        <p:spPr>
          <a:xfrm>
            <a:off x="7086600" y="1874520"/>
            <a:ext cx="4297680" cy="1417320"/>
          </a:xfrm>
          <a:prstGeom prst="rect">
            <a:avLst/>
          </a:prstGeom>
          <a:noFill/>
          <a:ln/>
        </p:spPr>
        <p:txBody>
          <a:bodyPr wrap="square" lIns="381" tIns="381" rIns="381" bIns="381" rtlCol="0" anchor="ctr">
            <a:normAutofit/>
          </a:bodyPr>
          <a:lstStyle/>
          <a:p>
            <a:pPr marL="177800" indent="-177800">
              <a:buSzPct val="100000"/>
              <a:buChar char="•"/>
            </a:pPr>
            <a:r>
              <a:rPr lang="en-US" sz="1600" dirty="0">
                <a:solidFill>
                  <a:srgbClr val="111827"/>
                </a:solidFill>
                <a:latin typeface="Aptos" pitchFamily="34" charset="0"/>
                <a:ea typeface="Aptos" pitchFamily="34" charset="-122"/>
                <a:cs typeface="Aptos" pitchFamily="34" charset="-120"/>
              </a:rPr>
              <a:t>miRNAs are inferred from target enrichment, not directly tested for expression.</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Functional enrichment is hypothesis-generating.</a:t>
            </a:r>
            <a:endParaRPr lang="en-US" sz="1600" dirty="0"/>
          </a:p>
          <a:p>
            <a:pPr marL="177800" indent="-177800">
              <a:buSzPct val="100000"/>
              <a:buChar char="•"/>
            </a:pPr>
            <a:r>
              <a:rPr lang="en-US" sz="1600" dirty="0">
                <a:solidFill>
                  <a:srgbClr val="111827"/>
                </a:solidFill>
                <a:latin typeface="Aptos" pitchFamily="34" charset="0"/>
                <a:ea typeface="Aptos" pitchFamily="34" charset="-122"/>
                <a:cs typeface="Aptos" pitchFamily="34" charset="-120"/>
              </a:rPr>
              <a:t>Further validation would require independent cohorts or experimental follow-up.</a:t>
            </a:r>
            <a:endParaRPr lang="en-US" sz="1600" dirty="0"/>
          </a:p>
        </p:txBody>
      </p:sp>
      <p:sp>
        <p:nvSpPr>
          <p:cNvPr id="9" name="Shape 7"/>
          <p:cNvSpPr/>
          <p:nvPr/>
        </p:nvSpPr>
        <p:spPr>
          <a:xfrm>
            <a:off x="777240" y="4572000"/>
            <a:ext cx="10652760" cy="0"/>
          </a:xfrm>
          <a:prstGeom prst="line">
            <a:avLst/>
          </a:prstGeom>
          <a:noFill/>
          <a:ln w="12700">
            <a:solidFill>
              <a:srgbClr val="CBD5E1"/>
            </a:solidFill>
            <a:prstDash val="solid"/>
          </a:ln>
        </p:spPr>
        <p:txBody>
          <a:bodyPr/>
          <a:p/>
        </p:txBody>
      </p:sp>
      <p:sp>
        <p:nvSpPr>
          <p:cNvPr id="10" name="Text 8"/>
          <p:cNvSpPr/>
          <p:nvPr/>
        </p:nvSpPr>
        <p:spPr>
          <a:xfrm>
            <a:off x="777240" y="4983480"/>
            <a:ext cx="2377440" cy="256032"/>
          </a:xfrm>
          <a:prstGeom prst="rect">
            <a:avLst/>
          </a:prstGeom>
          <a:noFill/>
          <a:ln/>
        </p:spPr>
        <p:txBody>
          <a:bodyPr wrap="square" lIns="0" tIns="0" rIns="0" bIns="0" rtlCol="0" anchor="ctr"/>
          <a:lstStyle/>
          <a:p>
            <a:pPr indent="0" marL="0">
              <a:buNone/>
            </a:pPr>
            <a:r>
              <a:rPr lang="en-US" sz="1800" b="1" dirty="0">
                <a:solidFill>
                  <a:srgbClr val="2563EB"/>
                </a:solidFill>
              </a:rPr>
              <a:t>Take-home message</a:t>
            </a:r>
            <a:endParaRPr lang="en-US" sz="1800" dirty="0"/>
          </a:p>
        </p:txBody>
      </p:sp>
      <p:sp>
        <p:nvSpPr>
          <p:cNvPr id="11" name="Text 9"/>
          <p:cNvSpPr/>
          <p:nvPr/>
        </p:nvSpPr>
        <p:spPr>
          <a:xfrm>
            <a:off x="777240" y="5349240"/>
            <a:ext cx="10424160" cy="512064"/>
          </a:xfrm>
          <a:prstGeom prst="rect">
            <a:avLst/>
          </a:prstGeom>
          <a:noFill/>
          <a:ln/>
        </p:spPr>
        <p:txBody>
          <a:bodyPr wrap="square" lIns="254" tIns="254" rIns="254" bIns="254" rtlCol="0" anchor="ctr">
            <a:normAutofit/>
          </a:bodyPr>
          <a:lstStyle/>
          <a:p>
            <a:pPr algn="ctr" indent="0" marL="0">
              <a:buNone/>
            </a:pPr>
            <a:r>
              <a:rPr lang="en-US" sz="2000" b="1" dirty="0">
                <a:solidFill>
                  <a:srgbClr val="0B1F33"/>
                </a:solidFill>
              </a:rPr>
              <a:t>The pipeline produced a biologically coherent HCC signature: proliferative activation in tumors, loss of normal liver function, and plausible miRNA-target regulatory modules.</a:t>
            </a:r>
            <a:endParaRPr lang="en-US" sz="2000" dirty="0"/>
          </a:p>
        </p:txBody>
      </p:sp>
      <p:sp>
        <p:nvSpPr>
          <p:cNvPr id="12" name="Text 10"/>
          <p:cNvSpPr/>
          <p:nvPr/>
        </p:nvSpPr>
        <p:spPr>
          <a:xfrm>
            <a:off x="594360" y="6510528"/>
            <a:ext cx="7955280" cy="201168"/>
          </a:xfrm>
          <a:prstGeom prst="rect">
            <a:avLst/>
          </a:prstGeom>
          <a:noFill/>
          <a:ln/>
        </p:spPr>
        <p:txBody>
          <a:bodyPr wrap="square" lIns="0" tIns="0" rIns="0" bIns="0" rtlCol="0" anchor="ctr"/>
          <a:lstStyle/>
          <a:p>
            <a:pPr indent="0" marL="0">
              <a:buNone/>
            </a:pPr>
            <a:r>
              <a:rPr lang="en-US" sz="850" dirty="0">
                <a:solidFill>
                  <a:srgbClr val="64748B"/>
                </a:solidFill>
              </a:rPr>
              <a:t>Gene expression data analysis • HCC tumor vs adjacent non-tumor liver</a:t>
            </a:r>
            <a:endParaRPr lang="en-US" sz="850" dirty="0"/>
          </a:p>
        </p:txBody>
      </p:sp>
      <p:sp>
        <p:nvSpPr>
          <p:cNvPr id="13" name="Text 11"/>
          <p:cNvSpPr/>
          <p:nvPr/>
        </p:nvSpPr>
        <p:spPr>
          <a:xfrm>
            <a:off x="11201400" y="6473952"/>
            <a:ext cx="411480" cy="219456"/>
          </a:xfrm>
          <a:prstGeom prst="rect">
            <a:avLst/>
          </a:prstGeom>
          <a:noFill/>
          <a:ln/>
        </p:spPr>
        <p:txBody>
          <a:bodyPr wrap="square" lIns="0" tIns="0" rIns="0" bIns="0" rtlCol="0" anchor="ctr"/>
          <a:lstStyle/>
          <a:p>
            <a:r>
              <a:rPr sz="1050">
                <a:solidFill>
                  <a:srgbClr val="64748B"/>
                </a:solidFill>
                <a:latin typeface="Apto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Differential gene expression analysis in HCC</dc:title>
  <dc:subject>Differential gene expression analysis in HCC</dc:subject>
  <dc:creator>OpenAI</dc:creator>
  <cp:lastModifiedBy>OpenAI</cp:lastModifiedBy>
  <cp:revision>1</cp:revision>
  <dcterms:created xsi:type="dcterms:W3CDTF">2026-05-26T15:36:24Z</dcterms:created>
  <dcterms:modified xsi:type="dcterms:W3CDTF">2026-05-26T15:36:24Z</dcterms:modified>
</cp:coreProperties>
</file>